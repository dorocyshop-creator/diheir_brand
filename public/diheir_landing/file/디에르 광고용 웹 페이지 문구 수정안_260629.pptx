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5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91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7739A4-704F-F013-ADD2-C1B0C42078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434A165-7293-89BB-A5EB-131FDA37D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88439D-3E22-168C-67F3-565EB4955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D7FEE-6185-4962-B9A9-528CA4C9D688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0AA13E-4288-BA6C-21C6-FC4C9B0E8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943CFD-E2D7-B85C-7F8B-80849EEA9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71D11-C609-43D6-A937-BBAAD4981D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9527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88EB4B-728A-354B-7831-36B7667AF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309080-D2E9-1DDC-3D76-7C7107F93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FACD75-3C7B-D17F-7713-D45C22DC7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D7FEE-6185-4962-B9A9-528CA4C9D688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B5D1B4-50A9-0E86-F05A-7BE3B17C2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11B58C-56DC-EFF5-26C9-B71BFAD2E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71D11-C609-43D6-A937-BBAAD4981D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2962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47DF90-79A2-2180-1C84-8416BF05B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12E522-95A3-F1AB-B6F9-F57276154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7B3B5C-ED76-BA9F-8EDF-030A95F04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D7FEE-6185-4962-B9A9-528CA4C9D688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7EFA8F-7900-586F-8BE4-BB315CBF6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8D009C-84D2-4BF3-FA6F-BCF5D1535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71D11-C609-43D6-A937-BBAAD4981D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4811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78DDB8-2322-FBD4-8FEB-734A7610A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E20951-327F-5466-AFBE-04D46C1E51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238B74B-8B33-3E8A-5EC2-478ADA2CA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BC325F-B6D6-5B29-3ECD-7E423E39F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D7FEE-6185-4962-B9A9-528CA4C9D688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7FCBB4-FE84-0470-0327-121247195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BCEEF6-1A6B-8762-38A6-53FE741A1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71D11-C609-43D6-A937-BBAAD4981D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1415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1945F6-6951-3F60-A1EB-CEFBD0DF6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9E8854-2BF8-753B-C032-0B2A87DD3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5862BA-5497-0A9B-66A2-8C9B37CD5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1CA7A5B-DF3A-6D02-71EB-AC35A714E4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3F0286B-2946-2C1E-57B6-A964888CC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475E1C6-1682-7411-C05D-E90B45E24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D7FEE-6185-4962-B9A9-528CA4C9D688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C7EE990-3F4A-12B1-48C7-4CBA39B24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006DBB7-4AFA-34EF-0B19-2FFC9F2DD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71D11-C609-43D6-A937-BBAAD4981D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4634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74F404-BEF9-331B-1521-B17C82F27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C916EB2-2465-BDBA-3F08-4D5258B3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D7FEE-6185-4962-B9A9-528CA4C9D688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7D578D2-D349-3BBE-EEBC-AFAF08AEB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3E73304-1AE5-DA33-9B44-C68D33F1F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71D11-C609-43D6-A937-BBAAD4981D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28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645BA87-2D51-4300-895B-D30156BD1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D7FEE-6185-4962-B9A9-528CA4C9D688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B675448-3750-D065-89E7-B2973E027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B5B28F-5BC9-3432-BF4A-B37942F33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71D11-C609-43D6-A937-BBAAD4981D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91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F76056-D6CC-621D-51F0-FE6482E52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85CFA6-4F4F-0F70-45B2-AC85A47D5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D3261C4-94F9-B566-459E-727544A3FD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75E054-2A14-5750-7A5E-189ABBA3D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D7FEE-6185-4962-B9A9-528CA4C9D688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5B0ACA-8CEF-FA09-F65A-0AE28F3D1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BC8985-1CAE-5EAF-1051-2A1C92D0E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71D11-C609-43D6-A937-BBAAD4981D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9104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548A90-8D7A-3718-FB7B-0638D44EE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DDA76BB-6F6C-20F3-D045-500925A7D9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792452-738A-EACC-D8B8-F29D679DEF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2020E9-B60A-AB14-28E8-F985A8C63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D7FEE-6185-4962-B9A9-528CA4C9D688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81A6C0-08A3-0948-7789-F7B4CE4DF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D95DCE-E94B-75F0-F476-FDB240E39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71D11-C609-43D6-A937-BBAAD4981D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2786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6D2577-ADAC-3587-7F67-548C4A3DF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51553ED-98A9-B817-91AE-2CA3252050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437B0C-D21F-EB24-D0A1-58A9AC4A5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D7FEE-6185-4962-B9A9-528CA4C9D688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B036BE-33AA-9601-2C90-8F2171802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6FF300-5C5B-BF80-F490-9EF5A1767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71D11-C609-43D6-A937-BBAAD4981D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1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F42E992-40BC-CB82-C1B6-980C5F86FF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8034366-0CE3-1E16-CF0C-FC1E12EFC6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C48732-5F6D-6F71-BB95-57D67DA19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D7FEE-6185-4962-B9A9-528CA4C9D688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3739B4-56FA-64C7-A22E-28F0DF021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6BA638-11F2-7198-B8E1-F46330D00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71D11-C609-43D6-A937-BBAAD4981D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6691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53CDA5C-31AF-5590-AEC1-B7C445AC5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C801AF-40AB-025D-E4A5-59BF925A84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7779FF-AB08-FCA0-3BFB-0C74510B20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CD7FEE-6185-4962-B9A9-528CA4C9D688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219640-BA57-7A22-0BE7-1179F18D5B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988194-953D-9B5D-CC8B-4C297362F0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471D11-C609-43D6-A937-BBAAD4981D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6922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A6C398B-64AE-9DB1-034C-72EE4517C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8730"/>
            <a:ext cx="6096000" cy="30302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363622-633B-2E8D-6770-930421ED4CB5}"/>
              </a:ext>
            </a:extLst>
          </p:cNvPr>
          <p:cNvSpPr txBox="1"/>
          <p:nvPr/>
        </p:nvSpPr>
        <p:spPr>
          <a:xfrm>
            <a:off x="7334250" y="915883"/>
            <a:ext cx="35718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/>
              <a:t>디에르</a:t>
            </a:r>
            <a:r>
              <a:rPr lang="ko-KR" altLang="en-US" sz="1400" dirty="0"/>
              <a:t> 청담 </a:t>
            </a:r>
            <a:r>
              <a:rPr lang="en-US" altLang="ko-KR" sz="1400" dirty="0"/>
              <a:t>VIP</a:t>
            </a:r>
            <a:r>
              <a:rPr lang="ko-KR" altLang="en-US" sz="1400" dirty="0"/>
              <a:t> 상담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ᆞ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커스터마이징 제작</a:t>
            </a:r>
            <a:endParaRPr lang="ko-KR" alt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38318A-F9EA-92EC-ED56-D7EDC4722F7C}"/>
              </a:ext>
            </a:extLst>
          </p:cNvPr>
          <p:cNvSpPr txBox="1"/>
          <p:nvPr/>
        </p:nvSpPr>
        <p:spPr>
          <a:xfrm>
            <a:off x="8040372" y="1342267"/>
            <a:ext cx="21595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 err="1"/>
              <a:t>당신만을</a:t>
            </a:r>
            <a:r>
              <a:rPr lang="ko-KR" altLang="en-US" sz="2000" dirty="0"/>
              <a:t> 위한</a:t>
            </a:r>
            <a:endParaRPr lang="en-US" altLang="ko-KR" sz="2000" dirty="0"/>
          </a:p>
          <a:p>
            <a:pPr algn="ctr"/>
            <a:r>
              <a:rPr lang="ko-KR" altLang="en-US" sz="2000" dirty="0"/>
              <a:t>단 하나의 </a:t>
            </a:r>
            <a:r>
              <a:rPr lang="ko-KR" altLang="en-US" sz="2000" dirty="0" err="1"/>
              <a:t>주얼리</a:t>
            </a:r>
            <a:endParaRPr lang="ko-KR" alt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1C4D8C-7B7F-F985-EC5F-AB7A53B1A1B6}"/>
              </a:ext>
            </a:extLst>
          </p:cNvPr>
          <p:cNvSpPr txBox="1"/>
          <p:nvPr/>
        </p:nvSpPr>
        <p:spPr>
          <a:xfrm>
            <a:off x="8083398" y="2305413"/>
            <a:ext cx="21165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Grace in Every Moment</a:t>
            </a:r>
            <a:endParaRPr lang="ko-KR" alt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257AF0-5553-C8D1-578B-14E53658A343}"/>
              </a:ext>
            </a:extLst>
          </p:cNvPr>
          <p:cNvSpPr txBox="1"/>
          <p:nvPr/>
        </p:nvSpPr>
        <p:spPr>
          <a:xfrm>
            <a:off x="8637490" y="434389"/>
            <a:ext cx="9653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로고</a:t>
            </a:r>
            <a:r>
              <a:rPr lang="en-US" altLang="ko-KR" sz="1400" dirty="0"/>
              <a:t> </a:t>
            </a:r>
            <a:r>
              <a:rPr lang="ko-KR" altLang="en-US" sz="1400" dirty="0"/>
              <a:t>유지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8DDBBB6-002E-7198-3061-B13B29726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36652"/>
            <a:ext cx="12192000" cy="23804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9D279AB-ACC7-E58A-F0EB-3756AC20B4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8126" y="4529803"/>
            <a:ext cx="1811149" cy="24526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83BFAE2-54E6-C2D5-02DF-306B553C3D73}"/>
              </a:ext>
            </a:extLst>
          </p:cNvPr>
          <p:cNvSpPr txBox="1"/>
          <p:nvPr/>
        </p:nvSpPr>
        <p:spPr>
          <a:xfrm>
            <a:off x="104775" y="5352462"/>
            <a:ext cx="26116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방문</a:t>
            </a:r>
            <a:r>
              <a:rPr lang="en-US" altLang="ko-KR" sz="1200" dirty="0"/>
              <a:t> </a:t>
            </a:r>
            <a:r>
              <a:rPr lang="ko-KR" altLang="en-US" sz="1200" dirty="0"/>
              <a:t>상담 시 프리미엄 </a:t>
            </a:r>
            <a:r>
              <a:rPr lang="ko-KR" altLang="en-US" sz="1200" dirty="0" err="1"/>
              <a:t>기프트</a:t>
            </a:r>
            <a:r>
              <a:rPr lang="ko-KR" altLang="en-US" sz="1200" dirty="0"/>
              <a:t> 증정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0EC4BF-9DD9-E63D-7D20-D8E167B7EFBE}"/>
              </a:ext>
            </a:extLst>
          </p:cNvPr>
          <p:cNvSpPr txBox="1"/>
          <p:nvPr/>
        </p:nvSpPr>
        <p:spPr>
          <a:xfrm>
            <a:off x="5360863" y="5352461"/>
            <a:ext cx="25026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디에르</a:t>
            </a:r>
            <a:r>
              <a:rPr lang="ko-KR" altLang="en-US" sz="1200" dirty="0"/>
              <a:t> 전문 디자이너들의 디자인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E0D3B9-2877-9414-73FE-C71329605FBC}"/>
              </a:ext>
            </a:extLst>
          </p:cNvPr>
          <p:cNvSpPr txBox="1"/>
          <p:nvPr/>
        </p:nvSpPr>
        <p:spPr>
          <a:xfrm>
            <a:off x="9558401" y="5319856"/>
            <a:ext cx="2194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주얼리</a:t>
            </a:r>
            <a:r>
              <a:rPr lang="en-US" altLang="ko-KR" sz="1200" dirty="0"/>
              <a:t> </a:t>
            </a:r>
            <a:r>
              <a:rPr lang="ko-KR" altLang="en-US" sz="1200" dirty="0"/>
              <a:t>명장들의 </a:t>
            </a:r>
            <a:r>
              <a:rPr lang="ko-KR" altLang="en-US" sz="1200" dirty="0" err="1"/>
              <a:t>졍교한</a:t>
            </a:r>
            <a:r>
              <a:rPr lang="ko-KR" altLang="en-US" sz="1200" dirty="0"/>
              <a:t> 세공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1E4DAF46-FB0A-DDE2-16BB-7884C4ACB5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2344" y="5394437"/>
            <a:ext cx="2244474" cy="23502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E598D14-38F6-AFDE-D8D5-74440384CFFF}"/>
              </a:ext>
            </a:extLst>
          </p:cNvPr>
          <p:cNvSpPr txBox="1"/>
          <p:nvPr/>
        </p:nvSpPr>
        <p:spPr>
          <a:xfrm>
            <a:off x="7934057" y="5342347"/>
            <a:ext cx="1470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커스터마이징 제작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B07DFB0-3968-7A2B-D8E9-B0A777D71AA8}"/>
              </a:ext>
            </a:extLst>
          </p:cNvPr>
          <p:cNvSpPr txBox="1"/>
          <p:nvPr/>
        </p:nvSpPr>
        <p:spPr>
          <a:xfrm>
            <a:off x="214475" y="498312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03F621E-53E4-4FEB-D498-A45DAB7789A0}"/>
              </a:ext>
            </a:extLst>
          </p:cNvPr>
          <p:cNvSpPr txBox="1"/>
          <p:nvPr/>
        </p:nvSpPr>
        <p:spPr>
          <a:xfrm>
            <a:off x="2787669" y="498312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6EF2AF-9B6A-3170-E1A0-82BCFB841762}"/>
              </a:ext>
            </a:extLst>
          </p:cNvPr>
          <p:cNvSpPr txBox="1"/>
          <p:nvPr/>
        </p:nvSpPr>
        <p:spPr>
          <a:xfrm>
            <a:off x="5432145" y="498312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4809CA-1D54-5F0E-C14F-A38363BE6F39}"/>
              </a:ext>
            </a:extLst>
          </p:cNvPr>
          <p:cNvSpPr txBox="1"/>
          <p:nvPr/>
        </p:nvSpPr>
        <p:spPr>
          <a:xfrm>
            <a:off x="8043519" y="498312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089105E-7E55-7075-7810-31FCFA9F33CD}"/>
              </a:ext>
            </a:extLst>
          </p:cNvPr>
          <p:cNvSpPr txBox="1"/>
          <p:nvPr/>
        </p:nvSpPr>
        <p:spPr>
          <a:xfrm>
            <a:off x="9593058" y="498312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</a:t>
            </a:r>
            <a:endParaRPr lang="ko-KR" altLang="en-US" dirty="0"/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7791385E-C8B7-6BB3-474C-53C45A2590E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7462" b="-1"/>
          <a:stretch>
            <a:fillRect/>
          </a:stretch>
        </p:blipFill>
        <p:spPr>
          <a:xfrm>
            <a:off x="644261" y="6298401"/>
            <a:ext cx="2654277" cy="276999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05751BFF-0102-C12A-B9C4-DC9934736C99}"/>
              </a:ext>
            </a:extLst>
          </p:cNvPr>
          <p:cNvSpPr txBox="1"/>
          <p:nvPr/>
        </p:nvSpPr>
        <p:spPr>
          <a:xfrm>
            <a:off x="3828295" y="6298401"/>
            <a:ext cx="27190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VIP </a:t>
            </a:r>
            <a:r>
              <a:rPr lang="ko-KR" altLang="en-US" sz="1200" dirty="0"/>
              <a:t>무료 상담 신청 </a:t>
            </a:r>
            <a:r>
              <a:rPr lang="en-US" altLang="ko-KR" sz="1200" dirty="0"/>
              <a:t>-</a:t>
            </a:r>
            <a:r>
              <a:rPr lang="ko-KR" altLang="en-US" sz="1200" dirty="0"/>
              <a:t> </a:t>
            </a:r>
            <a:r>
              <a:rPr lang="en-US" altLang="ko-KR" sz="1200" dirty="0"/>
              <a:t>24</a:t>
            </a:r>
            <a:r>
              <a:rPr lang="ko-KR" altLang="en-US" sz="1200" dirty="0"/>
              <a:t>시간 내 연락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8884539-6F34-FDE2-0F7B-0C2B5B995B20}"/>
              </a:ext>
            </a:extLst>
          </p:cNvPr>
          <p:cNvSpPr txBox="1"/>
          <p:nvPr/>
        </p:nvSpPr>
        <p:spPr>
          <a:xfrm>
            <a:off x="644261" y="591549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3EF4DCB-1FA0-E291-8C46-10E74D693AE2}"/>
              </a:ext>
            </a:extLst>
          </p:cNvPr>
          <p:cNvSpPr txBox="1"/>
          <p:nvPr/>
        </p:nvSpPr>
        <p:spPr>
          <a:xfrm>
            <a:off x="3909304" y="591549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6C978A1-11C4-95B1-1F8E-FABD1D4827CE}"/>
              </a:ext>
            </a:extLst>
          </p:cNvPr>
          <p:cNvSpPr txBox="1"/>
          <p:nvPr/>
        </p:nvSpPr>
        <p:spPr>
          <a:xfrm>
            <a:off x="6246715" y="447433"/>
            <a:ext cx="12073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rgbClr val="0000FF"/>
                </a:solidFill>
              </a:rPr>
              <a:t>→ 문구 수정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998E588-EF81-5D4F-D472-038542E14CC3}"/>
              </a:ext>
            </a:extLst>
          </p:cNvPr>
          <p:cNvSpPr txBox="1"/>
          <p:nvPr/>
        </p:nvSpPr>
        <p:spPr>
          <a:xfrm>
            <a:off x="40570" y="4006761"/>
            <a:ext cx="12073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rgbClr val="0000FF"/>
                </a:solidFill>
              </a:rPr>
              <a:t>↓ 문구 수정</a:t>
            </a:r>
          </a:p>
        </p:txBody>
      </p:sp>
    </p:spTree>
    <p:extLst>
      <p:ext uri="{BB962C8B-B14F-4D97-AF65-F5344CB8AC3E}">
        <p14:creationId xmlns:p14="http://schemas.microsoft.com/office/powerpoint/2010/main" val="2573639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84986-36E6-DF30-2E8F-83AD1F5BA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197B9B5-DF07-8AF6-1CA5-91D0D364D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9450"/>
            <a:ext cx="12192000" cy="2032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3EFCA4-454E-A574-938B-9AF6F059925B}"/>
              </a:ext>
            </a:extLst>
          </p:cNvPr>
          <p:cNvSpPr txBox="1"/>
          <p:nvPr/>
        </p:nvSpPr>
        <p:spPr>
          <a:xfrm>
            <a:off x="3262556" y="3547184"/>
            <a:ext cx="15536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err="1"/>
              <a:t>GIA</a:t>
            </a: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ᆞIGI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국제 인증 다이아몬드</a:t>
            </a:r>
            <a:endParaRPr lang="ko-KR" altLang="en-US" sz="11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FC869BF-78BD-5C9D-9AE3-9C9CB6371B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658" b="17418"/>
          <a:stretch>
            <a:fillRect/>
          </a:stretch>
        </p:blipFill>
        <p:spPr>
          <a:xfrm>
            <a:off x="25783" y="3547185"/>
            <a:ext cx="2950965" cy="78595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72B5BB7-5D52-0E6F-B7D8-050B45684B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4972" y="3590718"/>
            <a:ext cx="1284172" cy="44102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6E47AE5-9669-2E88-45B3-D1E92CD85F39}"/>
              </a:ext>
            </a:extLst>
          </p:cNvPr>
          <p:cNvSpPr txBox="1"/>
          <p:nvPr/>
        </p:nvSpPr>
        <p:spPr>
          <a:xfrm>
            <a:off x="7479800" y="3529370"/>
            <a:ext cx="21948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명장의 정교한 세공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기술력</a:t>
            </a:r>
            <a:endParaRPr lang="ko-KR" altLang="en-US" sz="11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398AFC-460A-D9E2-9664-AEAD716167E6}"/>
              </a:ext>
            </a:extLst>
          </p:cNvPr>
          <p:cNvSpPr txBox="1"/>
          <p:nvPr/>
        </p:nvSpPr>
        <p:spPr>
          <a:xfrm>
            <a:off x="9989919" y="4098757"/>
            <a:ext cx="15049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</a:t>
            </a:r>
            <a:endParaRPr lang="ko-KR" altLang="en-US" sz="120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6C94F29D-87F8-F3E2-69DB-C876DACFF4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6419" y="766215"/>
            <a:ext cx="12192000" cy="37256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B81EF94-6865-F05D-7711-114EEEE640E9}"/>
              </a:ext>
            </a:extLst>
          </p:cNvPr>
          <p:cNvSpPr txBox="1"/>
          <p:nvPr/>
        </p:nvSpPr>
        <p:spPr>
          <a:xfrm>
            <a:off x="188815" y="336550"/>
            <a:ext cx="10182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>
                <a:solidFill>
                  <a:srgbClr val="C00000"/>
                </a:solidFill>
              </a:rPr>
              <a:t>↓ 바 삭제</a:t>
            </a:r>
            <a:endParaRPr lang="ko-KR" altLang="en-US" sz="1400" b="1" dirty="0">
              <a:solidFill>
                <a:srgbClr val="C0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7DE2FE-3537-7B21-3ABF-02ED90B3FC3E}"/>
              </a:ext>
            </a:extLst>
          </p:cNvPr>
          <p:cNvSpPr txBox="1"/>
          <p:nvPr/>
        </p:nvSpPr>
        <p:spPr>
          <a:xfrm>
            <a:off x="188815" y="2996274"/>
            <a:ext cx="12073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rgbClr val="0000FF"/>
                </a:solidFill>
              </a:rPr>
              <a:t>↓ 문구 수정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40B301-5A5A-DAED-7258-89C3A07F3403}"/>
              </a:ext>
            </a:extLst>
          </p:cNvPr>
          <p:cNvSpPr txBox="1"/>
          <p:nvPr/>
        </p:nvSpPr>
        <p:spPr>
          <a:xfrm>
            <a:off x="4901498" y="3547184"/>
            <a:ext cx="24929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디자인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ᆞ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커스터마이징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1100" dirty="0"/>
          </a:p>
          <a:p>
            <a:pPr algn="ctr"/>
            <a:r>
              <a:rPr lang="ko-KR" altLang="en-US" sz="1100" dirty="0"/>
              <a:t>단 하나의 </a:t>
            </a:r>
            <a:r>
              <a:rPr lang="ko-KR" altLang="en-US" sz="1100" dirty="0" err="1"/>
              <a:t>주얼리</a:t>
            </a:r>
            <a:endParaRPr lang="ko-KR" altLang="en-US" sz="11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C46DC5-B006-C8A4-5F3C-D45B8740D4BB}"/>
              </a:ext>
            </a:extLst>
          </p:cNvPr>
          <p:cNvSpPr txBox="1"/>
          <p:nvPr/>
        </p:nvSpPr>
        <p:spPr>
          <a:xfrm>
            <a:off x="194362" y="2599251"/>
            <a:ext cx="765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0000FF"/>
                </a:solidFill>
              </a:rPr>
              <a:t>** </a:t>
            </a:r>
            <a:r>
              <a:rPr lang="ko-KR" altLang="en-US" sz="1400" b="1" dirty="0">
                <a:solidFill>
                  <a:srgbClr val="0000FF"/>
                </a:solidFill>
              </a:rPr>
              <a:t>페이지별 내용이 지속 반복되어서 해당 부분은 추후 삭제 필요 여부 확인하고자 합니다</a:t>
            </a:r>
            <a:r>
              <a:rPr lang="en-US" altLang="ko-KR" sz="1400" b="1" dirty="0">
                <a:solidFill>
                  <a:srgbClr val="0000FF"/>
                </a:solidFill>
              </a:rPr>
              <a:t>. **</a:t>
            </a:r>
            <a:endParaRPr lang="ko-KR" altLang="en-US" sz="14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5229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BF017-A773-9410-F1A5-3F43C8B09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88ED919-6043-6511-9890-159CD146B1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37" t="6408" r="8643" b="6891"/>
          <a:stretch>
            <a:fillRect/>
          </a:stretch>
        </p:blipFill>
        <p:spPr>
          <a:xfrm>
            <a:off x="225242" y="180975"/>
            <a:ext cx="11739761" cy="40602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243A9C-5F37-E451-EBBA-9C00066EB364}"/>
              </a:ext>
            </a:extLst>
          </p:cNvPr>
          <p:cNvSpPr txBox="1"/>
          <p:nvPr/>
        </p:nvSpPr>
        <p:spPr>
          <a:xfrm>
            <a:off x="4380627" y="4490159"/>
            <a:ext cx="3430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err="1"/>
              <a:t>디에르</a:t>
            </a:r>
            <a:r>
              <a:rPr lang="ko-KR" altLang="en-US" dirty="0"/>
              <a:t> </a:t>
            </a:r>
            <a:r>
              <a:rPr lang="ko-KR" altLang="en-US" dirty="0" err="1"/>
              <a:t>주얼리를</a:t>
            </a:r>
            <a:r>
              <a:rPr lang="ko-KR" altLang="en-US" dirty="0"/>
              <a:t> 선택하는 이유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7E826F-C5A3-B3AA-DDA1-BBFCA235CF74}"/>
              </a:ext>
            </a:extLst>
          </p:cNvPr>
          <p:cNvSpPr txBox="1"/>
          <p:nvPr/>
        </p:nvSpPr>
        <p:spPr>
          <a:xfrm>
            <a:off x="5351365" y="3933483"/>
            <a:ext cx="12073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rgbClr val="0000FF"/>
                </a:solidFill>
              </a:rPr>
              <a:t>↓ 문구 수정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66D860-396D-0D2A-16D9-B7284E802E58}"/>
              </a:ext>
            </a:extLst>
          </p:cNvPr>
          <p:cNvSpPr txBox="1"/>
          <p:nvPr/>
        </p:nvSpPr>
        <p:spPr>
          <a:xfrm>
            <a:off x="126620" y="5129197"/>
            <a:ext cx="2339102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err="1"/>
              <a:t>GIA</a:t>
            </a: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ᆞIGI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인증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국제 감정서로 인증된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다이아몬드만을 사용하여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품질에 대한 신뢰도를 보장합니다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B3676C-EFA0-B169-C0D1-0B72130989BE}"/>
              </a:ext>
            </a:extLst>
          </p:cNvPr>
          <p:cNvSpPr txBox="1"/>
          <p:nvPr/>
        </p:nvSpPr>
        <p:spPr>
          <a:xfrm>
            <a:off x="3030678" y="5129197"/>
            <a:ext cx="2492991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디자인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ᆞ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커스터마이징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100" dirty="0" err="1"/>
              <a:t>디에르</a:t>
            </a:r>
            <a:r>
              <a:rPr lang="ko-KR" altLang="en-US" sz="1100" dirty="0"/>
              <a:t> 전문 </a:t>
            </a:r>
            <a:r>
              <a:rPr lang="ko-KR" altLang="en-US" sz="1100" dirty="0" err="1"/>
              <a:t>주얼리</a:t>
            </a:r>
            <a:r>
              <a:rPr lang="ko-KR" altLang="en-US" sz="1100" dirty="0"/>
              <a:t> 디자이너들의</a:t>
            </a:r>
            <a:endParaRPr lang="en-US" altLang="ko-KR" sz="1100" dirty="0"/>
          </a:p>
          <a:p>
            <a:pPr algn="ctr"/>
            <a:r>
              <a:rPr lang="ko-KR" altLang="en-US" sz="1100" dirty="0"/>
              <a:t>예술적 디자인으로</a:t>
            </a:r>
            <a:endParaRPr lang="en-US" altLang="ko-KR" sz="1100" dirty="0"/>
          </a:p>
          <a:p>
            <a:pPr algn="ctr"/>
            <a:r>
              <a:rPr lang="ko-KR" altLang="en-US" sz="1100" dirty="0"/>
              <a:t>단 </a:t>
            </a:r>
            <a:r>
              <a:rPr lang="ko-KR" altLang="en-US" sz="1100" dirty="0" err="1"/>
              <a:t>하나뿐인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주얼리를</a:t>
            </a:r>
            <a:r>
              <a:rPr lang="ko-KR" altLang="en-US" sz="1100" dirty="0"/>
              <a:t> 선보입니다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A0BD51-F06C-AFFD-71D0-11145688F9F2}"/>
              </a:ext>
            </a:extLst>
          </p:cNvPr>
          <p:cNvSpPr txBox="1"/>
          <p:nvPr/>
        </p:nvSpPr>
        <p:spPr>
          <a:xfrm>
            <a:off x="6088625" y="5129197"/>
            <a:ext cx="3384260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명장의 세공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1100" dirty="0"/>
          </a:p>
          <a:p>
            <a:pPr algn="ctr"/>
            <a:r>
              <a:rPr lang="ko-KR" altLang="en-US" sz="1100" dirty="0" err="1"/>
              <a:t>주얼리</a:t>
            </a:r>
            <a:r>
              <a:rPr lang="ko-KR" altLang="en-US" sz="1100" dirty="0"/>
              <a:t> 명장의 손을 거친</a:t>
            </a:r>
            <a:endParaRPr lang="en-US" altLang="ko-KR" sz="1100" dirty="0"/>
          </a:p>
          <a:p>
            <a:pPr algn="ctr"/>
            <a:r>
              <a:rPr lang="ko-KR" altLang="en-US" sz="1100" dirty="0"/>
              <a:t>정교한 세공</a:t>
            </a:r>
            <a:r>
              <a:rPr lang="en-US" altLang="ko-KR" sz="1100" dirty="0"/>
              <a:t>, </a:t>
            </a:r>
            <a:r>
              <a:rPr lang="ko-KR" altLang="en-US" sz="1100" dirty="0"/>
              <a:t>완벽한 합금 비율</a:t>
            </a:r>
            <a:r>
              <a:rPr lang="en-US" altLang="ko-KR" sz="1100" dirty="0"/>
              <a:t>,</a:t>
            </a:r>
            <a:r>
              <a:rPr lang="ko-KR" altLang="en-US" sz="1100" dirty="0"/>
              <a:t> 내구성 강화 기술로</a:t>
            </a:r>
            <a:endParaRPr lang="en-US" altLang="ko-KR" sz="1100" dirty="0"/>
          </a:p>
          <a:p>
            <a:pPr algn="ctr"/>
            <a:r>
              <a:rPr lang="ko-KR" altLang="en-US" sz="1100" dirty="0"/>
              <a:t>오랜 시간 착용에도 최상의 편안함을 제공합니다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90DC8C-8C96-AEE0-71B4-AC30FA3B0E9B}"/>
              </a:ext>
            </a:extLst>
          </p:cNvPr>
          <p:cNvSpPr txBox="1"/>
          <p:nvPr/>
        </p:nvSpPr>
        <p:spPr>
          <a:xfrm>
            <a:off x="9578939" y="5129197"/>
            <a:ext cx="2217274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평생 </a:t>
            </a:r>
            <a:r>
              <a:rPr lang="en-US" altLang="ko-KR" dirty="0"/>
              <a:t>A/S</a:t>
            </a:r>
            <a:endParaRPr lang="en-US" altLang="ko-KR" sz="1100" dirty="0"/>
          </a:p>
          <a:p>
            <a:pPr algn="ctr"/>
            <a:endParaRPr lang="en-US" altLang="ko-KR" sz="1100" dirty="0"/>
          </a:p>
          <a:p>
            <a:pPr algn="ctr"/>
            <a:r>
              <a:rPr lang="ko-KR" altLang="en-US" sz="1100" dirty="0"/>
              <a:t>무상 </a:t>
            </a:r>
            <a:r>
              <a:rPr lang="ko-KR" altLang="en-US" sz="1100" dirty="0" err="1"/>
              <a:t>폴리싱</a:t>
            </a:r>
            <a:r>
              <a:rPr lang="ko-KR" altLang="en-US" sz="1100" dirty="0"/>
              <a:t> 및 클리닝 서비스로</a:t>
            </a:r>
            <a:endParaRPr lang="en-US" altLang="ko-KR" sz="1100" dirty="0"/>
          </a:p>
          <a:p>
            <a:pPr algn="ctr"/>
            <a:r>
              <a:rPr lang="ko-KR" altLang="en-US" sz="1100" dirty="0"/>
              <a:t>구매 후에도 </a:t>
            </a:r>
            <a:r>
              <a:rPr lang="ko-KR" altLang="en-US" sz="1100" dirty="0" err="1"/>
              <a:t>고객님과의</a:t>
            </a:r>
            <a:endParaRPr lang="en-US" altLang="ko-KR" sz="1100" dirty="0"/>
          </a:p>
          <a:p>
            <a:pPr algn="ctr"/>
            <a:r>
              <a:rPr lang="ko-KR" altLang="en-US" sz="1100" dirty="0"/>
              <a:t>소중한 인연을 이어갑니다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871712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CD20F-5587-0486-D6EC-F56DFF9E9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DBB6342-FA49-F2AD-5E03-AAFD168B01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36" r="22208"/>
          <a:stretch>
            <a:fillRect/>
          </a:stretch>
        </p:blipFill>
        <p:spPr>
          <a:xfrm>
            <a:off x="175098" y="837188"/>
            <a:ext cx="5774506" cy="49743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D48E8C-20C0-D323-F577-C0F36DC95C9B}"/>
              </a:ext>
            </a:extLst>
          </p:cNvPr>
          <p:cNvSpPr txBox="1"/>
          <p:nvPr/>
        </p:nvSpPr>
        <p:spPr>
          <a:xfrm>
            <a:off x="5613335" y="3429000"/>
            <a:ext cx="9653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rgbClr val="0000FF"/>
                </a:solidFill>
              </a:rPr>
              <a:t>내용 수정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3D665A5C-4546-72BA-612D-5653D4205C21}"/>
              </a:ext>
            </a:extLst>
          </p:cNvPr>
          <p:cNvCxnSpPr>
            <a:cxnSpLocks/>
          </p:cNvCxnSpPr>
          <p:nvPr/>
        </p:nvCxnSpPr>
        <p:spPr>
          <a:xfrm>
            <a:off x="5838825" y="4067175"/>
            <a:ext cx="51435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9C66843-2236-704E-B198-C65E40D407C5}"/>
              </a:ext>
            </a:extLst>
          </p:cNvPr>
          <p:cNvSpPr txBox="1"/>
          <p:nvPr/>
        </p:nvSpPr>
        <p:spPr>
          <a:xfrm>
            <a:off x="7134141" y="5279499"/>
            <a:ext cx="4009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해당 시크릿 혜택은 사정에 따라 변경될 수 있습니다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ctr"/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지금 신청하시면 모든 혜택이 제공됩니다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816D12-5478-942E-ACAE-7EDD472506E7}"/>
              </a:ext>
            </a:extLst>
          </p:cNvPr>
          <p:cNvSpPr txBox="1"/>
          <p:nvPr/>
        </p:nvSpPr>
        <p:spPr>
          <a:xfrm>
            <a:off x="6856664" y="946859"/>
            <a:ext cx="4531177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DIHEIR </a:t>
            </a:r>
          </a:p>
          <a:p>
            <a:pPr algn="ctr"/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시크릿 혜택</a:t>
            </a:r>
            <a:endParaRPr lang="en-US" altLang="ko-KR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8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월 말까지 혜택이 제공되며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조기 마감될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 algn="ctr"/>
            <a:endParaRPr lang="en-US" altLang="ko-KR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상담 고객</a:t>
            </a:r>
            <a:b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디에르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벨벳 보석함 및 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포레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베르테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룸 스프레이 증정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b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계약 고객</a:t>
            </a:r>
            <a:b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고급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14K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골드 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가드링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및 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도로시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테디베어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키링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증정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당일 계약 고객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20%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특별 할인 제공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평일 방문 계약 시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10%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추가 할인 제공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2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디에르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제휴사 혜택 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택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1)</a:t>
            </a:r>
          </a:p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쿠촐라테라짜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와인 또는 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식사권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매</a:t>
            </a:r>
          </a:p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더록시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프리미엄 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에스테틱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회 관리권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매</a:t>
            </a:r>
          </a:p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이성민 한복 바우처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매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5872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BF09D-5E2D-C601-59AA-D7C9FF902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B1ED000-8332-4360-153A-164C7B36D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56" y="1123544"/>
            <a:ext cx="5704759" cy="4610911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9AC8E6EA-1D76-BD5C-4E20-ED3D44D5087F}"/>
              </a:ext>
            </a:extLst>
          </p:cNvPr>
          <p:cNvCxnSpPr>
            <a:cxnSpLocks/>
          </p:cNvCxnSpPr>
          <p:nvPr/>
        </p:nvCxnSpPr>
        <p:spPr>
          <a:xfrm>
            <a:off x="4847415" y="2953358"/>
            <a:ext cx="212407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DDC15A3-5DA0-730B-5C4A-13631047C25E}"/>
              </a:ext>
            </a:extLst>
          </p:cNvPr>
          <p:cNvSpPr txBox="1"/>
          <p:nvPr/>
        </p:nvSpPr>
        <p:spPr>
          <a:xfrm>
            <a:off x="7017232" y="2814858"/>
            <a:ext cx="35349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오랜 시간 착용에도 최상의 편안함을 제공합니다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29EB47-5451-360A-C9C6-C7AFC78B10FD}"/>
              </a:ext>
            </a:extLst>
          </p:cNvPr>
          <p:cNvSpPr txBox="1"/>
          <p:nvPr/>
        </p:nvSpPr>
        <p:spPr>
          <a:xfrm>
            <a:off x="7017232" y="2507081"/>
            <a:ext cx="9653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rgbClr val="0000FF"/>
                </a:solidFill>
              </a:rPr>
              <a:t>문구 수정</a:t>
            </a:r>
          </a:p>
        </p:txBody>
      </p:sp>
    </p:spTree>
    <p:extLst>
      <p:ext uri="{BB962C8B-B14F-4D97-AF65-F5344CB8AC3E}">
        <p14:creationId xmlns:p14="http://schemas.microsoft.com/office/powerpoint/2010/main" val="3067339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939F1-8DE6-7BC1-233B-294EE68E3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4B21580-1AB0-0B9F-A19C-C833C67DDB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789" r="10743" b="9816"/>
          <a:stretch>
            <a:fillRect/>
          </a:stretch>
        </p:blipFill>
        <p:spPr>
          <a:xfrm>
            <a:off x="330739" y="986375"/>
            <a:ext cx="5540183" cy="4636211"/>
          </a:xfrm>
          <a:prstGeom prst="rect">
            <a:avLst/>
          </a:prstGeom>
        </p:spPr>
      </p:pic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FCF5DA9C-8D50-E47E-EBAF-944FE502C292}"/>
              </a:ext>
            </a:extLst>
          </p:cNvPr>
          <p:cNvCxnSpPr>
            <a:cxnSpLocks/>
          </p:cNvCxnSpPr>
          <p:nvPr/>
        </p:nvCxnSpPr>
        <p:spPr>
          <a:xfrm>
            <a:off x="4370760" y="2875537"/>
            <a:ext cx="212407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674394A-079A-1EFA-ED57-BED05244960F}"/>
              </a:ext>
            </a:extLst>
          </p:cNvPr>
          <p:cNvSpPr txBox="1"/>
          <p:nvPr/>
        </p:nvSpPr>
        <p:spPr>
          <a:xfrm>
            <a:off x="6494835" y="2875537"/>
            <a:ext cx="18197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잎과 결</a:t>
            </a:r>
            <a:r>
              <a:rPr lang="en-US" altLang="ko-KR" sz="12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12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 – ‘ </a:t>
            </a:r>
            <a:r>
              <a:rPr lang="ko-KR" altLang="en-US" sz="12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  <a:endParaRPr lang="en-US" altLang="ko-KR" sz="12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디자인을 </a:t>
            </a:r>
            <a:r>
              <a:rPr lang="ko-KR" altLang="en-US" sz="12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선보입니다</a:t>
            </a:r>
            <a:r>
              <a:rPr lang="en-US" altLang="ko-KR" sz="12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5CE661-27C2-85A5-03E1-7D0E81E6CFC2}"/>
              </a:ext>
            </a:extLst>
          </p:cNvPr>
          <p:cNvSpPr txBox="1"/>
          <p:nvPr/>
        </p:nvSpPr>
        <p:spPr>
          <a:xfrm>
            <a:off x="6607657" y="2429260"/>
            <a:ext cx="9653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rgbClr val="0000FF"/>
                </a:solidFill>
              </a:rPr>
              <a:t>문구 수정</a:t>
            </a:r>
          </a:p>
        </p:txBody>
      </p:sp>
    </p:spTree>
    <p:extLst>
      <p:ext uri="{BB962C8B-B14F-4D97-AF65-F5344CB8AC3E}">
        <p14:creationId xmlns:p14="http://schemas.microsoft.com/office/powerpoint/2010/main" val="794680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B853E-ED5B-BA05-A54E-FC3EE6812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71C02B6-B740-F869-0F6E-D3F4B03547DA}"/>
              </a:ext>
            </a:extLst>
          </p:cNvPr>
          <p:cNvSpPr txBox="1"/>
          <p:nvPr/>
        </p:nvSpPr>
        <p:spPr>
          <a:xfrm>
            <a:off x="7305675" y="4750499"/>
            <a:ext cx="2154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VIP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무료 상담 예약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53334D-67EA-0AFA-F950-B171315693BD}"/>
              </a:ext>
            </a:extLst>
          </p:cNvPr>
          <p:cNvSpPr txBox="1"/>
          <p:nvPr/>
        </p:nvSpPr>
        <p:spPr>
          <a:xfrm>
            <a:off x="7290334" y="4442722"/>
            <a:ext cx="9653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rgbClr val="0000FF"/>
                </a:solidFill>
              </a:rPr>
              <a:t>문구 수정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590EC45-67AA-2ECB-4879-D506379C40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39"/>
          <a:stretch>
            <a:fillRect/>
          </a:stretch>
        </p:blipFill>
        <p:spPr>
          <a:xfrm>
            <a:off x="273531" y="1703711"/>
            <a:ext cx="5822469" cy="3877216"/>
          </a:xfrm>
          <a:prstGeom prst="rect">
            <a:avLst/>
          </a:prstGeom>
        </p:spPr>
      </p:pic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AAA3A110-08DB-52A9-8BBA-9BBD57A336FF}"/>
              </a:ext>
            </a:extLst>
          </p:cNvPr>
          <p:cNvCxnSpPr>
            <a:cxnSpLocks/>
          </p:cNvCxnSpPr>
          <p:nvPr/>
        </p:nvCxnSpPr>
        <p:spPr>
          <a:xfrm>
            <a:off x="3971925" y="4935165"/>
            <a:ext cx="333375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0946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AB2EE-A675-B045-6347-30F3F431E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7EFA1CB-D65F-7C81-118D-98C16E160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76" y="871232"/>
            <a:ext cx="5906324" cy="4372585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7B59903D-9298-8FB5-1394-A80B8DDEF20B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5167312" y="4111668"/>
            <a:ext cx="926696" cy="12311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888C42F-A48A-9970-C3DF-5975B0F94D23}"/>
              </a:ext>
            </a:extLst>
          </p:cNvPr>
          <p:cNvSpPr txBox="1"/>
          <p:nvPr/>
        </p:nvSpPr>
        <p:spPr>
          <a:xfrm>
            <a:off x="6094008" y="3973168"/>
            <a:ext cx="60212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VIP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상담 신청 시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디에르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담당자가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24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시간 이내에 직접 연락을 드립니다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ctr"/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지금 신청 시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우선 순위로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VIP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상담이 진행됩니다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C12EBA-6161-398E-8C76-F388532DA55B}"/>
              </a:ext>
            </a:extLst>
          </p:cNvPr>
          <p:cNvSpPr txBox="1"/>
          <p:nvPr/>
        </p:nvSpPr>
        <p:spPr>
          <a:xfrm>
            <a:off x="7203779" y="821156"/>
            <a:ext cx="9653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rgbClr val="0000FF"/>
                </a:solidFill>
              </a:rPr>
              <a:t>문구 수정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4B92F8-095C-CD54-35AE-5EA2C511A63F}"/>
              </a:ext>
            </a:extLst>
          </p:cNvPr>
          <p:cNvSpPr txBox="1"/>
          <p:nvPr/>
        </p:nvSpPr>
        <p:spPr>
          <a:xfrm>
            <a:off x="6373431" y="2009128"/>
            <a:ext cx="24256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err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디에르</a:t>
            </a:r>
            <a:r>
              <a:rPr lang="ko-KR" altLang="en-US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청담 쇼룸에서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당신의 이야기를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들려주세요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E8FF9A-46D1-3155-7E0B-65093BF92AB8}"/>
              </a:ext>
            </a:extLst>
          </p:cNvPr>
          <p:cNvSpPr txBox="1"/>
          <p:nvPr/>
        </p:nvSpPr>
        <p:spPr>
          <a:xfrm>
            <a:off x="6737305" y="1128933"/>
            <a:ext cx="1898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100%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무료 상담 제공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BCC8F920-E89E-15D8-5072-EB761FDACDAE}"/>
              </a:ext>
            </a:extLst>
          </p:cNvPr>
          <p:cNvCxnSpPr>
            <a:cxnSpLocks/>
          </p:cNvCxnSpPr>
          <p:nvPr/>
        </p:nvCxnSpPr>
        <p:spPr>
          <a:xfrm>
            <a:off x="5425693" y="1267432"/>
            <a:ext cx="1339469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2DF472F-F9AD-878A-94C0-0B9FA778C352}"/>
              </a:ext>
            </a:extLst>
          </p:cNvPr>
          <p:cNvCxnSpPr>
            <a:cxnSpLocks/>
          </p:cNvCxnSpPr>
          <p:nvPr/>
        </p:nvCxnSpPr>
        <p:spPr>
          <a:xfrm>
            <a:off x="4930393" y="2229457"/>
            <a:ext cx="1339469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837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338</Words>
  <Application>Microsoft Office PowerPoint</Application>
  <PresentationFormat>와이드스크린</PresentationFormat>
  <Paragraphs>88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예진 전</dc:creator>
  <cp:lastModifiedBy>예진 전</cp:lastModifiedBy>
  <cp:revision>6</cp:revision>
  <dcterms:created xsi:type="dcterms:W3CDTF">2026-06-29T01:28:18Z</dcterms:created>
  <dcterms:modified xsi:type="dcterms:W3CDTF">2026-07-03T07:06:50Z</dcterms:modified>
</cp:coreProperties>
</file>