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29.jpg" ContentType="image/jpeg"/>
  <Override PartName="/ppt/media/image30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04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44BD-F263-164F-DC75-650D6983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59A26-7723-C469-EB80-D5698AA1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BF5A8-DBC6-9364-BFAE-7DCDF3070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C68CE-12F7-A59C-ED33-02BC18E8C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3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4018-65B0-1E2D-2A3C-E1348CD9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82481-302A-5CB7-6788-7D443362C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17B83-BD8C-18D6-1540-3D5A9E83E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C6985-8E76-BEF3-331A-EC289D42E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20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jpg"/><Relationship Id="rId5" Type="http://schemas.openxmlformats.org/officeDocument/2006/relationships/image" Target="../media/image24.png"/><Relationship Id="rId10" Type="http://schemas.openxmlformats.org/officeDocument/2006/relationships/image" Target="../media/image29.jp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storefront_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0"/>
            <a:ext cx="822960" cy="6858000"/>
          </a:xfrm>
          <a:prstGeom prst="rect">
            <a:avLst/>
          </a:prstGeom>
          <a:solidFill>
            <a:srgbClr val="2A2420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22960" y="23317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4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DIHEIR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868680" y="3520440"/>
            <a:ext cx="1005840" cy="0"/>
          </a:xfrm>
          <a:prstGeom prst="line">
            <a:avLst/>
          </a:prstGeom>
          <a:noFill/>
          <a:ln w="19050">
            <a:solidFill>
              <a:srgbClr val="B9AC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2296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디렉션 제안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Quality Jewelry  ·  청담동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핵심 키워드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6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디에르가 추구하는 방향성 — 하이엔드 퀄리티 주얼리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4206240"/>
          </a:xfrm>
          <a:prstGeom prst="roundRect">
            <a:avLst>
              <a:gd name="adj" fmla="val 2518"/>
            </a:avLst>
          </a:prstGeom>
          <a:solidFill>
            <a:srgbClr val="EFEAE0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522476" y="2258568"/>
            <a:ext cx="777240" cy="777240"/>
          </a:xfrm>
          <a:prstGeom prst="ellipse">
            <a:avLst/>
          </a:prstGeom>
          <a:solidFill>
            <a:srgbClr val="2A242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mages/icon_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45516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디자이너 상주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매장에 디자이너가 상주하며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맞춤 컨설팅과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비스포크 경험을 제공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1874520"/>
            <a:ext cx="2542032" cy="4206240"/>
          </a:xfrm>
          <a:prstGeom prst="roundRect">
            <a:avLst>
              <a:gd name="adj" fmla="val 2518"/>
            </a:avLst>
          </a:prstGeom>
          <a:solidFill>
            <a:srgbClr val="EFEAE0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320540" y="2258568"/>
            <a:ext cx="777240" cy="777240"/>
          </a:xfrm>
          <a:prstGeom prst="ellipse">
            <a:avLst/>
          </a:prstGeom>
          <a:solidFill>
            <a:srgbClr val="2A242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mages/icon_eleg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245516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24612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우아함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621024" y="4114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과하지 않은 라인과 디테일,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시간이 지나도 변치 않는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품격있는 디자인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1874520"/>
            <a:ext cx="2542032" cy="4206240"/>
          </a:xfrm>
          <a:prstGeom prst="roundRect">
            <a:avLst>
              <a:gd name="adj" fmla="val 2518"/>
            </a:avLst>
          </a:prstGeom>
          <a:solidFill>
            <a:srgbClr val="EFEAE0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118604" y="2258568"/>
            <a:ext cx="777240" cy="777240"/>
          </a:xfrm>
          <a:prstGeom prst="ellipse">
            <a:avLst/>
          </a:prstGeom>
          <a:solidFill>
            <a:srgbClr val="2A242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images/icon_qui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45516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3368" y="324612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조용한 럭셔리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419088" y="4114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로고를 내세우지 않는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절제된 표현으로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본질적 가치를 전달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1874520"/>
            <a:ext cx="2542032" cy="4206240"/>
          </a:xfrm>
          <a:prstGeom prst="roundRect">
            <a:avLst>
              <a:gd name="adj" fmla="val 2518"/>
            </a:avLst>
          </a:prstGeom>
          <a:solidFill>
            <a:srgbClr val="EFEAE0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916668" y="2258568"/>
            <a:ext cx="777240" cy="777240"/>
          </a:xfrm>
          <a:prstGeom prst="ellipse">
            <a:avLst/>
          </a:prstGeom>
          <a:solidFill>
            <a:srgbClr val="2A242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images/icon_gard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4" y="245516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324612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이태리 감성의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정원 속 매장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217152" y="4114800"/>
            <a:ext cx="21762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자연光과 그린이 어우러진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공간에서 느끼는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이태리식 여유와 정취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jewelry_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6520" y="502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46520" y="868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하이엔드 퀄리티 주얼리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46520" y="18745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디자이너 상주 컨설팅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전속 디자이너가 매장에 상주하여 고객 한 분 한 분의 라이프스타일에 맞춘 큐레이션과 맞춤 제작(비스포크) 상담을 진행합니다.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46520" y="324612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소재와 세공의 완성도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원석 선별부터 세팅까지 모든 공정에서 타협하지 않는 기준을 적용하여, 오래 소장할 수 있는 퀄리티를 완성합니다.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46520" y="4892040"/>
            <a:ext cx="5074920" cy="18288"/>
          </a:xfrm>
          <a:prstGeom prst="rect">
            <a:avLst/>
          </a:prstGeom>
          <a:solidFill>
            <a:srgbClr val="B9AC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46520" y="512064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F3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디자이너가 상주하는 매장은,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F3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곧 브랜드의 신뢰와 전문성을 보여주는 공간입니다. 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우아함 &amp; 조용한 럭셔리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6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Luxury — 절제된 디자인이 만드는 품격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로고보다 만듦새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로고나 화려한 장식 없이도, 라인과 비례, 마감의 디테일만으로 가치를 증명하는 디자인 철학을 지향합니다.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정적인 우아함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유행을 따르지 않고, 시간이 흘러도 자연스럽게 어우러지는 절제되고 차분한 무드를 추구합니다.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브랜드 무드 — Georg Jensen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 err="1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차분한</a:t>
            </a: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광택과 절제된 실루엣으로 ‘조용한 럭셔리’의 정서를 보여주는 레퍼런스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37960" y="548640"/>
            <a:ext cx="507492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AC93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images/gj_m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612648"/>
            <a:ext cx="4946904" cy="5632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이태리 감성의 정원 속 매장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6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자연과 공간이 함께 만드는 디에르만의 매장 경험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74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AC93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mages/potted_gard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75688"/>
            <a:ext cx="4946904" cy="3529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77900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넝쿨과 화분으로 둘러싸인 외관 — 도심 속 정원 같은 첫 인상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897880" y="2011680"/>
            <a:ext cx="5074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AC93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images/hydrange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075688"/>
            <a:ext cx="4946904" cy="35295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577900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계절감 있는 식재 — 자연광과 그린이 어우러진 파사드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bc_m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893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0"/>
            <a:ext cx="45720" cy="6858000"/>
          </a:xfrm>
          <a:prstGeom prst="rect">
            <a:avLst/>
          </a:prstGeom>
          <a:solidFill>
            <a:srgbClr val="B9AC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6492240" y="548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92240" y="914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추구하는 브랜드 이미지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492240" y="14813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9AC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Brunello Cucinelli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92240" y="22402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이태리 장인정신과 휴머니즘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전통적인 수공예 기술과 따뜻한 휴머니즘을 바탕으로, 시간이 지나도 빛을 잃지 않는 가치를 만듭니다.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37947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절제된 컬러와 자연스러운 무드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베이지·브라운</a:t>
            </a:r>
            <a:r>
              <a:rPr lang="en-US" altLang="ko-KR" sz="12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r>
              <a:rPr lang="ko-KR" altLang="en-US" sz="12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올리브그린</a:t>
            </a:r>
            <a:r>
              <a:rPr lang="en-US" sz="12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자연에서 온 색감과 여유로운 라이프스타일 연출로 ‘조용한 럭셔리’를 시각적으로 완성합니다.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5440680"/>
            <a:ext cx="5120640" cy="18288"/>
          </a:xfrm>
          <a:prstGeom prst="rect">
            <a:avLst/>
          </a:prstGeom>
          <a:solidFill>
            <a:srgbClr val="B9AC9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9224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디에르가 지향하는 톤 &amp; 매너의 기준점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interior_gard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420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DIHEIR BRAND DIRECTION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14300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F4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디자이너의 안목, 정원의 여유,</a:t>
            </a:r>
            <a:endParaRPr lang="en-US" sz="3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F4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조용한 럭셔리의 완성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22960" y="3063240"/>
            <a:ext cx="144018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9AC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1440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디자이너 상주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64308" y="3063240"/>
            <a:ext cx="836676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9AC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464308" y="3063240"/>
            <a:ext cx="8366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우아함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02152" y="3063240"/>
            <a:ext cx="144018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9AC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502152" y="3063240"/>
            <a:ext cx="1440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럭셔리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43500" y="3063240"/>
            <a:ext cx="2647188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9AC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143500" y="3063240"/>
            <a:ext cx="2647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이태리 감성의 정원 속 매장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5074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하이엔드 퀄리티 주얼리 브랜드로서, 디에르는 브루넬로 쿠치넬리가 보여주는 절제된 격조와 장인정신을 지향하며,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5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청담동 매장의 정원 같은 공간에서 디자이너와 함께하는 특별한 경험을 제공합니다.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34BE0-0623-BE33-7B47-73FBFC76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197716-9EF9-9679-9AE2-54AD3E357693}"/>
              </a:ext>
            </a:extLst>
          </p:cNvPr>
          <p:cNvSpPr/>
          <p:nvPr/>
        </p:nvSpPr>
        <p:spPr>
          <a:xfrm>
            <a:off x="326737" y="208389"/>
            <a:ext cx="7506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&lt;</a:t>
            </a:r>
            <a:r>
              <a:rPr lang="ko-KR" altLang="en-US" sz="1300" dirty="0"/>
              <a:t>참조</a:t>
            </a:r>
            <a:r>
              <a:rPr lang="en-US" altLang="ko-KR" sz="1300" dirty="0"/>
              <a:t>&gt;</a:t>
            </a:r>
            <a:endParaRPr lang="en-US" sz="13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92F0229-904B-948C-C4F9-D97FD62A4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3" y="904441"/>
            <a:ext cx="1159693" cy="23560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51A1EB7-0D7A-9339-31F9-67AB8165B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654" y="1312649"/>
            <a:ext cx="1257949" cy="253356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D1BA80B-622A-2719-3D8A-31FB39E80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20" y="3609267"/>
            <a:ext cx="1391684" cy="2835706"/>
          </a:xfrm>
          <a:prstGeom prst="rect">
            <a:avLst/>
          </a:prstGeom>
        </p:spPr>
      </p:pic>
      <p:sp>
        <p:nvSpPr>
          <p:cNvPr id="34" name="Text 1">
            <a:extLst>
              <a:ext uri="{FF2B5EF4-FFF2-40B4-BE49-F238E27FC236}">
                <a16:creationId xmlns:a16="http://schemas.microsoft.com/office/drawing/2014/main" id="{57E26056-E164-340F-EC3B-0AB8981B282F}"/>
              </a:ext>
            </a:extLst>
          </p:cNvPr>
          <p:cNvSpPr/>
          <p:nvPr/>
        </p:nvSpPr>
        <p:spPr>
          <a:xfrm>
            <a:off x="397503" y="3338866"/>
            <a:ext cx="873834" cy="18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/>
              <a:t>@</a:t>
            </a:r>
            <a:r>
              <a:rPr lang="en-US" sz="800" b="1" i="1" dirty="0"/>
              <a:t>georgjensen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1F9A835-7B2C-5D68-F257-C0355BE616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920" y="421056"/>
            <a:ext cx="1483682" cy="300794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ECFE2973-9A19-E892-CDF3-974905C04BB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883" b="2728"/>
          <a:stretch>
            <a:fillRect/>
          </a:stretch>
        </p:blipFill>
        <p:spPr>
          <a:xfrm>
            <a:off x="3549263" y="3587082"/>
            <a:ext cx="1483682" cy="259743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D88D7F9-DA9E-9317-A4D7-7F6582F912C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584"/>
          <a:stretch>
            <a:fillRect/>
          </a:stretch>
        </p:blipFill>
        <p:spPr>
          <a:xfrm>
            <a:off x="5063123" y="237445"/>
            <a:ext cx="1740966" cy="307628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114FB9F8-73D1-A9C5-216C-6EBFA4F894F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1224" b="4680"/>
          <a:stretch>
            <a:fillRect/>
          </a:stretch>
        </p:blipFill>
        <p:spPr>
          <a:xfrm>
            <a:off x="5124003" y="3756198"/>
            <a:ext cx="1649908" cy="2827213"/>
          </a:xfrm>
          <a:prstGeom prst="rect">
            <a:avLst/>
          </a:prstGeom>
        </p:spPr>
      </p:pic>
      <p:sp>
        <p:nvSpPr>
          <p:cNvPr id="43" name="Text 1">
            <a:extLst>
              <a:ext uri="{FF2B5EF4-FFF2-40B4-BE49-F238E27FC236}">
                <a16:creationId xmlns:a16="http://schemas.microsoft.com/office/drawing/2014/main" id="{38307A86-959C-6688-F0B0-6B1CC1985CAB}"/>
              </a:ext>
            </a:extLst>
          </p:cNvPr>
          <p:cNvSpPr/>
          <p:nvPr/>
        </p:nvSpPr>
        <p:spPr>
          <a:xfrm>
            <a:off x="5343191" y="3401132"/>
            <a:ext cx="873834" cy="18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/>
              <a:t>@</a:t>
            </a:r>
            <a:r>
              <a:rPr lang="en-US" sz="800" b="1" i="1" dirty="0"/>
              <a:t>fritt.jewelry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8042C525-67A9-FCDE-6178-814DCBF383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5539" y="421056"/>
            <a:ext cx="1663167" cy="337182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2D303B3-4DE9-00FD-18B9-0E60D8B218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6683" y="421056"/>
            <a:ext cx="2392011" cy="48617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77A43F4-7169-1071-72FE-88FDC03C38F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0203" b="3054"/>
          <a:stretch>
            <a:fillRect/>
          </a:stretch>
        </p:blipFill>
        <p:spPr>
          <a:xfrm>
            <a:off x="7655609" y="3920232"/>
            <a:ext cx="1550238" cy="2725069"/>
          </a:xfrm>
          <a:prstGeom prst="rect">
            <a:avLst/>
          </a:prstGeom>
        </p:spPr>
      </p:pic>
      <p:sp>
        <p:nvSpPr>
          <p:cNvPr id="50" name="Text 1">
            <a:extLst>
              <a:ext uri="{FF2B5EF4-FFF2-40B4-BE49-F238E27FC236}">
                <a16:creationId xmlns:a16="http://schemas.microsoft.com/office/drawing/2014/main" id="{56153785-6066-A2C7-FA3D-0309519D4D07}"/>
              </a:ext>
            </a:extLst>
          </p:cNvPr>
          <p:cNvSpPr/>
          <p:nvPr/>
        </p:nvSpPr>
        <p:spPr>
          <a:xfrm>
            <a:off x="9343314" y="5418546"/>
            <a:ext cx="873834" cy="18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/>
              <a:t>@</a:t>
            </a:r>
            <a:r>
              <a:rPr lang="en-US" sz="800" b="1" i="1" dirty="0"/>
              <a:t>eareestudio</a:t>
            </a:r>
          </a:p>
        </p:txBody>
      </p:sp>
    </p:spTree>
    <p:extLst>
      <p:ext uri="{BB962C8B-B14F-4D97-AF65-F5344CB8AC3E}">
        <p14:creationId xmlns:p14="http://schemas.microsoft.com/office/powerpoint/2010/main" val="2411756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35EC5-E344-6E8F-F84F-991234835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F96FE7-A0BE-629E-F404-B0A65BF4B703}"/>
              </a:ext>
            </a:extLst>
          </p:cNvPr>
          <p:cNvSpPr/>
          <p:nvPr/>
        </p:nvSpPr>
        <p:spPr>
          <a:xfrm>
            <a:off x="493367" y="391269"/>
            <a:ext cx="7506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&lt;</a:t>
            </a:r>
            <a:r>
              <a:rPr lang="ko-KR" altLang="en-US" sz="1300" dirty="0"/>
              <a:t>참조</a:t>
            </a:r>
            <a:r>
              <a:rPr lang="en-US" altLang="ko-KR" sz="1300" dirty="0"/>
              <a:t>&gt;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57F2708-AE23-2C09-997E-9A8C67A9BE4B}"/>
              </a:ext>
            </a:extLst>
          </p:cNvPr>
          <p:cNvSpPr/>
          <p:nvPr/>
        </p:nvSpPr>
        <p:spPr>
          <a:xfrm>
            <a:off x="640080" y="5233076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EFEA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457817-BAEC-1096-23FB-6C21B0CC047D}"/>
              </a:ext>
            </a:extLst>
          </p:cNvPr>
          <p:cNvSpPr/>
          <p:nvPr/>
        </p:nvSpPr>
        <p:spPr>
          <a:xfrm>
            <a:off x="86868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</a:t>
            </a:r>
            <a:r>
              <a:rPr lang="en-US" sz="1150" b="1" dirty="0" err="1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</a:t>
            </a:r>
            <a:r>
              <a:rPr lang="en-US" sz="11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무드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 err="1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차분한</a:t>
            </a:r>
            <a:r>
              <a:rPr lang="en-US" sz="1150" dirty="0">
                <a:solidFill>
                  <a:srgbClr val="5B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광택과 절제된 실루엣으로 ‘조용한 럭셔리’의 정서를 보여주는 레퍼런스</a:t>
            </a:r>
            <a:endParaRPr lang="en-US" sz="11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2B75F08-CCDA-5CF4-2599-E65398C2A260}"/>
              </a:ext>
            </a:extLst>
          </p:cNvPr>
          <p:cNvSpPr/>
          <p:nvPr/>
        </p:nvSpPr>
        <p:spPr>
          <a:xfrm>
            <a:off x="6537960" y="548640"/>
            <a:ext cx="507492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AC93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853231-5C27-FFD3-7918-1BB745D15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392" y="718948"/>
            <a:ext cx="1414926" cy="28903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CF54199-0EBC-872E-1F09-627FBE17D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058" y="718948"/>
            <a:ext cx="1406349" cy="285717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117105F-1247-A1F4-59EE-33AB7673A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7147" y="718948"/>
            <a:ext cx="1398700" cy="285717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CA6A496-28F2-F3A2-1C33-FEE9D76CA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946" y="3779576"/>
            <a:ext cx="1255958" cy="171325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3676D84-09CB-BE29-4115-623437AFEB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5703" y="3725528"/>
            <a:ext cx="887516" cy="128120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6730A36-9F93-2FB8-7D34-7C3DFD7765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7147" y="4174132"/>
            <a:ext cx="1512413" cy="194804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761D653-7800-73C2-C405-514A5641DE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5162" y="3946748"/>
            <a:ext cx="1664647" cy="2175424"/>
          </a:xfrm>
          <a:prstGeom prst="rect">
            <a:avLst/>
          </a:prstGeom>
        </p:spPr>
      </p:pic>
      <p:sp>
        <p:nvSpPr>
          <p:cNvPr id="33" name="Text 7">
            <a:extLst>
              <a:ext uri="{FF2B5EF4-FFF2-40B4-BE49-F238E27FC236}">
                <a16:creationId xmlns:a16="http://schemas.microsoft.com/office/drawing/2014/main" id="{941C807F-65D8-40AE-1437-3F3C8EC54F75}"/>
              </a:ext>
            </a:extLst>
          </p:cNvPr>
          <p:cNvSpPr/>
          <p:nvPr/>
        </p:nvSpPr>
        <p:spPr>
          <a:xfrm>
            <a:off x="7897453" y="287893"/>
            <a:ext cx="2595757" cy="206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r>
              <a:rPr lang="ko-KR" altLang="en-US" sz="800" i="1" dirty="0" err="1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브루넬로쿠치넬리</a:t>
            </a:r>
            <a:r>
              <a:rPr lang="ko-KR" altLang="en-US" sz="8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00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en-US" altLang="ko-KR" sz="8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800" i="1" dirty="0" err="1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아만호텔의</a:t>
            </a:r>
            <a:r>
              <a:rPr lang="ko-KR" altLang="en-US" sz="8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따뜻하고 </a:t>
            </a:r>
            <a:r>
              <a:rPr lang="ko-KR" altLang="en-US" sz="800" i="1" dirty="0" err="1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럭셔리한</a:t>
            </a:r>
            <a:r>
              <a:rPr lang="ko-KR" altLang="en-US" sz="8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무드</a:t>
            </a:r>
            <a:r>
              <a:rPr lang="en-US" altLang="ko-KR" sz="8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6DDD22-25AD-E9AB-44D8-D048292CC3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1664" y="915534"/>
            <a:ext cx="2933752" cy="40912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8F6C51-64A4-C48C-1C87-79D388CD5D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567" y="915534"/>
            <a:ext cx="2445104" cy="409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80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368</Words>
  <Application>Microsoft Office PowerPoint</Application>
  <PresentationFormat>와이드스크린</PresentationFormat>
  <Paragraphs>78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DIHEIR Brand Direction</dc:title>
  <dc:subject>PptxGenJS Presentation</dc:subject>
  <dc:creator>Diheir</dc:creator>
  <cp:lastModifiedBy>디에르 청담</cp:lastModifiedBy>
  <cp:revision>3</cp:revision>
  <cp:lastPrinted>2026-06-26T03:48:04Z</cp:lastPrinted>
  <dcterms:created xsi:type="dcterms:W3CDTF">2026-06-25T18:15:03Z</dcterms:created>
  <dcterms:modified xsi:type="dcterms:W3CDTF">2026-06-26T08:12:41Z</dcterms:modified>
</cp:coreProperties>
</file>