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87" r:id="rId2"/>
    <p:sldId id="256" r:id="rId3"/>
    <p:sldId id="284" r:id="rId4"/>
    <p:sldId id="285" r:id="rId5"/>
    <p:sldId id="286" r:id="rId6"/>
    <p:sldId id="296" r:id="rId7"/>
    <p:sldId id="295" r:id="rId8"/>
    <p:sldId id="297" r:id="rId9"/>
    <p:sldId id="298" r:id="rId10"/>
    <p:sldId id="299" r:id="rId11"/>
    <p:sldId id="300" r:id="rId12"/>
    <p:sldId id="301" r:id="rId13"/>
    <p:sldId id="265" r:id="rId14"/>
    <p:sldId id="273" r:id="rId15"/>
    <p:sldId id="276" r:id="rId16"/>
    <p:sldId id="277" r:id="rId17"/>
    <p:sldId id="302" r:id="rId18"/>
    <p:sldId id="278" r:id="rId19"/>
    <p:sldId id="279" r:id="rId20"/>
    <p:sldId id="303" r:id="rId21"/>
    <p:sldId id="304" r:id="rId22"/>
    <p:sldId id="305" r:id="rId23"/>
    <p:sldId id="292" r:id="rId24"/>
  </p:sldIdLst>
  <p:sldSz cx="12192000" cy="6858000"/>
  <p:notesSz cx="6865938" cy="99980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7D23"/>
    <a:srgbClr val="C0C2AB"/>
    <a:srgbClr val="FFFFFF"/>
    <a:srgbClr val="C3996B"/>
    <a:srgbClr val="5956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798" y="10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501640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9109" y="0"/>
            <a:ext cx="2975240" cy="501640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r">
              <a:defRPr sz="1300"/>
            </a:lvl1pPr>
          </a:lstStyle>
          <a:p>
            <a:fld id="{C502C342-4349-4556-8BEB-C3C13C79FD88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4975" y="1249363"/>
            <a:ext cx="5997575" cy="3375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59" tIns="48180" rIns="96359" bIns="4818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6594" y="4811574"/>
            <a:ext cx="5492750" cy="3936742"/>
          </a:xfrm>
          <a:prstGeom prst="rect">
            <a:avLst/>
          </a:prstGeom>
        </p:spPr>
        <p:txBody>
          <a:bodyPr vert="horz" lIns="96359" tIns="48180" rIns="96359" bIns="4818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96437"/>
            <a:ext cx="2975240" cy="501639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9109" y="9496437"/>
            <a:ext cx="2975240" cy="501639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r">
              <a:defRPr sz="1300"/>
            </a:lvl1pPr>
          </a:lstStyle>
          <a:p>
            <a:fld id="{03778F8D-7873-4564-8E6C-05868BD7EF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8402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778F8D-7873-4564-8E6C-05868BD7EF0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171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E71FF-8499-508E-6869-3073DFEE3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74E5E0-CB93-C0EC-E3F6-7DF154562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1C3248-620A-F756-4BF6-28DB75021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1834C7-F0E9-11B7-50AB-EBC35363E7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778F8D-7873-4564-8E6C-05868BD7EF0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976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CD315-7C98-A956-1989-5B0DD2240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290791-A7A4-8F79-FFBA-4CF87DB3C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C0C83E-C8F0-CE9E-8DD6-DAA796010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4E1992-2D07-C834-6716-DDD7E4736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778F8D-7873-4564-8E6C-05868BD7EF0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536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9367D-6EB8-47CC-1AA4-452A9D652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A6234F-7B8F-587B-AA07-AD0FCB517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C52930-6270-B3DE-B9B0-BE2AEAE551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8990D4-474D-F8A8-DA23-D4836A87E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778F8D-7873-4564-8E6C-05868BD7EF0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546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61DA6-F099-D5F7-C2A2-2D4127046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BD9D01-0CC1-6BE5-958F-B1355E4076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2FAA27-08AB-EB84-E111-61A398AAC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6EF1F6-870B-7B36-0EE7-1454FFA121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6359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778F8D-7873-4564-8E6C-05868BD7EF0F}" type="slidenum">
              <a:rPr kumimoji="0" lang="ko-KR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63595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5859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38674-CC0D-2AD5-158E-CEE0F60B4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CC9C34-5389-8280-B85F-D8312D2BD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3C5900-ADB7-B75F-4A2F-5F72D34CD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7D5032-D31C-E960-F220-55A7C5D892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63595"/>
            <a:fld id="{03778F8D-7873-4564-8E6C-05868BD7EF0F}" type="slidenum">
              <a:rPr lang="ko-KR" altLang="en-US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pPr defTabSz="963595"/>
              <a:t>7</a:t>
            </a:fld>
            <a:endParaRPr lang="ko-KR" altLang="en-US">
              <a:solidFill>
                <a:prstClr val="black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5462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4F1F5-49B9-232F-FD8D-D67363448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513A9D-5A37-83D3-D21D-BECF82586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354D82-A6FA-B5CD-AE6E-F7C7505DF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18B741-A3AB-6B9B-BE28-4D223E97B2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6359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778F8D-7873-4564-8E6C-05868BD7EF0F}" type="slidenum">
              <a:rPr kumimoji="0" lang="ko-KR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63595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76304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CB3FC-BA62-7E8A-57DD-7804C64AF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8C84A8-56F0-1A4A-CA01-6053DE23A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44EF58-9086-84EF-E60E-CA247B485E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55F72B-B3E7-88B0-C260-1F3881D1A5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6359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778F8D-7873-4564-8E6C-05868BD7EF0F}" type="slidenum">
              <a:rPr kumimoji="0" lang="ko-KR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63595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4032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4E6A2-3DD2-9A6F-7051-BA1177FB3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1B8260-6DC8-3C4E-069B-974F0D05EC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D84DF5-9ACF-CE57-57C3-94223C3AC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314641-F3E1-C3BC-4497-411CF32A3D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6359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778F8D-7873-4564-8E6C-05868BD7EF0F}" type="slidenum">
              <a:rPr kumimoji="0" lang="ko-KR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63595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24626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F82C-D1BF-162D-EAD2-89A34D786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967383-B526-4F7A-1418-5B4BF8D853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1CD74C-9722-F6E8-B657-5D5AB42AA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BFDF29-9D8C-8F34-68BE-6344ADD23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6359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778F8D-7873-4564-8E6C-05868BD7EF0F}" type="slidenum">
              <a:rPr kumimoji="0" lang="ko-KR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63595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88594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D6D1F-535A-3779-1D52-9D500F7BB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F77BEC-B116-7BFA-FD94-9F63C59C8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93CA62-6A7D-91DC-CEC0-A1BCEB9C3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F95422-BB18-D170-5A6D-6858EFDC96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6359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778F8D-7873-4564-8E6C-05868BD7EF0F}" type="slidenum">
              <a:rPr kumimoji="0" lang="ko-KR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63595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2328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328BF8-35D7-B9DF-9B22-183E33B930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391227-95F7-6337-6E47-DA7754FDF1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8E4F55-7A81-4888-685D-D4890AFD1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2046-7A94-4B97-AAFF-85E3B6C84A9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498EC2-E3C6-9B71-4D81-A21B7C10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60D011-A870-B04B-844F-7B9F57CC5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7B6B6-F2D3-44FD-A698-847B20AD6F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4652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F54976-4B0F-12A2-720A-6891F1044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2CEC3E-32C8-62BC-157A-867D22C73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AB7ABD-94A2-A596-EC80-7F6D4C4B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2046-7A94-4B97-AAFF-85E3B6C84A9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95491E-FC97-6820-84F2-87F48803A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828810-BE6F-25C2-D709-216051372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7B6B6-F2D3-44FD-A698-847B20AD6F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219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DD6AC8-C466-BF7A-467C-7C9B42CFF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C8D07A-9184-19CA-CEA7-363474155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FB7AA9-15D6-9EF5-5C62-C29D8F56A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2046-7A94-4B97-AAFF-85E3B6C84A9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3570CE-61FD-CBCF-9208-0D226520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AE5B45-E332-35CE-ED83-27F125128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7B6B6-F2D3-44FD-A698-847B20AD6F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1589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34F25F-4F0D-A84D-4F4C-C47D0BD78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E56C19-45A7-1548-D0A0-1074FE4F62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43D928-DA14-160B-B462-A30AEB380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2D37A2-47DA-FD43-E75A-A332B015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2046-7A94-4B97-AAFF-85E3B6C84A9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713AB6-6C68-37C6-F233-995C7200E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1C4AD1-08CE-EB03-F219-A69A91E8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7B6B6-F2D3-44FD-A698-847B20AD6F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953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BB32E6-1CDB-DA4E-44F4-680DE91C7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35AF46-D90B-75E5-8E8E-9D648D955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F2CAC1B-468B-CEA3-1328-BB300B491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A78A5D-BE6C-FA9E-84A9-42E2E103CD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1525CCB-EFE0-CD71-44A5-19AB057E7E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79D82EE-BF93-17E2-B12E-05C3EE0E4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2046-7A94-4B97-AAFF-85E3B6C84A9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DBF660C-0DD6-19DA-F2DD-14B128983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E9ED0B-9E61-38DA-262E-495B3D449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7B6B6-F2D3-44FD-A698-847B20AD6F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78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23975D-780A-E03C-1079-044C1C7FF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4F757D-4DE9-60AF-BB00-431D43AB5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2046-7A94-4B97-AAFF-85E3B6C84A9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2F09892-4B22-B2BB-03F8-3319709C0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1CF33B-E6EE-8EEE-7B8F-AA5277262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7B6B6-F2D3-44FD-A698-847B20AD6F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2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98D6CB4-13DC-DC9D-C518-A9D37C77F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2046-7A94-4B97-AAFF-85E3B6C84A9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F66057F-B33F-38DD-DD9F-56CF77414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5BEB51-CDAD-C54C-9D4F-FBA8CB40F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7B6B6-F2D3-44FD-A698-847B20AD6F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418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C02170-9234-9B97-130D-F1AC5EDEC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018199-DABC-2150-88E9-FB83E3C8E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8D6B69-3D9B-F962-2D89-220FD7B4E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1E8ABE-0F41-7D90-FCF4-BC0DBF6C2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2046-7A94-4B97-AAFF-85E3B6C84A9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F98065-B9A4-46E2-188F-8B360C953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A73D22-2C48-AE12-9347-54586D90A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7B6B6-F2D3-44FD-A698-847B20AD6F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062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360E6E-9167-597D-8386-12F901B7B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80F1FE4-77C1-40CD-D6E4-926109AECE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B25FF5-E1E5-1F2E-E5FA-EE5B7D235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061073-28D5-EBEC-9A7C-DE2A78ACA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2046-7A94-4B97-AAFF-85E3B6C84A9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BC8733-BED1-7651-A7C7-F224D573C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2AA810-A1F8-1967-7A2F-2D291763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7B6B6-F2D3-44FD-A698-847B20AD6F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9825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1A3C73-71DB-EA6E-D18E-92EF4E515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BF8D35-9781-E479-FBA0-A73F8EB29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F790E8-0F2A-F65D-5202-15237CADA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2046-7A94-4B97-AAFF-85E3B6C84A9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1E6EE3-BFA4-4551-F484-BEDBC3478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7EFFD-C75B-98EC-A2D7-49D80E4EE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7B6B6-F2D3-44FD-A698-847B20AD6F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439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B3FEA0F-030E-6C57-8BBA-FA1855518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F7BCFF-975A-8EE4-FC5E-68DEBF4598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E73050-6731-781B-E399-2DA99F098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2046-7A94-4B97-AAFF-85E3B6C84A9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916845-2D54-1208-5BAB-7DBDBCE84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806070-CDC8-8A76-23B0-E6907197B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7B6B6-F2D3-44FD-A698-847B20AD6F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457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A2E6883-9A9E-7443-6B1A-8179F9035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523E14-0EC0-C23F-9479-75608D09C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FFD10C-5B92-A1A4-8179-715E5303A6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312046-7A94-4B97-AAFF-85E3B6C84A91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4370B7-D42E-3447-AC42-8A3DE45B3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B659E8-B364-DF31-BB87-20F24C506C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97B6B6-F2D3-44FD-A698-847B20AD6F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81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51AC6-DBC9-9CC7-743C-DFD9A7A90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71702BB-2DC2-DEFE-7EAE-8DD45EBFE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946" y="2638314"/>
            <a:ext cx="1848108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724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2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9FC83A8C-BD4F-E116-8FF4-3BCB6FD8EBF7}"/>
              </a:ext>
            </a:extLst>
          </p:cNvPr>
          <p:cNvSpPr txBox="1"/>
          <p:nvPr/>
        </p:nvSpPr>
        <p:spPr>
          <a:xfrm>
            <a:off x="2221360" y="1474691"/>
            <a:ext cx="7450138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en-US" altLang="ko-KR" sz="1400" b="1" dirty="0">
                <a:solidFill>
                  <a:schemeClr val="accent6">
                    <a:lumMod val="7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</a:t>
            </a:r>
            <a:r>
              <a:rPr lang="en-US" altLang="ko-KR" sz="14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iamond(</a:t>
            </a:r>
            <a:r>
              <a:rPr lang="ko-KR" altLang="en-US" sz="14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다이아몬드</a:t>
            </a:r>
            <a:r>
              <a:rPr lang="en-US" altLang="ko-KR" sz="14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r>
              <a:rPr lang="ko-KR" altLang="en-US" sz="14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14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</a:t>
            </a:r>
            <a:r>
              <a:rPr lang="ko-KR" altLang="en-US" sz="14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1400" b="1" dirty="0">
                <a:solidFill>
                  <a:schemeClr val="accent6">
                    <a:lumMod val="7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Heir</a:t>
            </a:r>
            <a:r>
              <a:rPr lang="en-US" altLang="ko-KR" sz="14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loom(</a:t>
            </a:r>
            <a:r>
              <a:rPr lang="ko-KR" altLang="en-US" sz="14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가보</a:t>
            </a:r>
            <a:r>
              <a:rPr lang="en-US" altLang="ko-KR" sz="14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algn="ctr" latinLnBrk="0">
              <a:lnSpc>
                <a:spcPct val="150000"/>
              </a:lnSpc>
            </a:pPr>
            <a:r>
              <a:rPr lang="ko-KR" altLang="en-US" sz="14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디에르는</a:t>
            </a:r>
            <a:r>
              <a:rPr lang="ko-KR" altLang="en-US" sz="1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가보라는 키워드에서 모티브를 얻어</a:t>
            </a:r>
            <a:endParaRPr lang="en-US" altLang="ko-KR" sz="1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</a:pPr>
            <a:r>
              <a:rPr lang="ko-KR" altLang="en-US" sz="1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세대를 넘어 이어지는 가치와 기억을 담기 위해 탄생한 브랜드입니다</a:t>
            </a:r>
            <a:r>
              <a:rPr lang="en-US" altLang="ko-KR" sz="1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80FF8AC-68EF-C62C-672F-500F4ABDF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389" y="234025"/>
            <a:ext cx="1531222" cy="876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55B6526-0FEB-5B9B-645E-9568BABD7BF2}"/>
              </a:ext>
            </a:extLst>
          </p:cNvPr>
          <p:cNvSpPr txBox="1"/>
          <p:nvPr/>
        </p:nvSpPr>
        <p:spPr>
          <a:xfrm>
            <a:off x="5569296" y="2731312"/>
            <a:ext cx="2768690" cy="1666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디에르는</a:t>
            </a:r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(H</a:t>
            </a: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는 묵음</a:t>
            </a:r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마주 보는 두 사람 </a:t>
            </a:r>
            <a:r>
              <a:rPr lang="en-US" altLang="ko-KR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or </a:t>
            </a:r>
            <a:r>
              <a:rPr lang="ko-KR" altLang="en-US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세대</a:t>
            </a:r>
            <a:endParaRPr lang="en-US" altLang="ko-KR" sz="1400" dirty="0">
              <a:solidFill>
                <a:prstClr val="black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latinLnBrk="0">
              <a:lnSpc>
                <a:spcPct val="150000"/>
              </a:lnSpc>
              <a:defRPr/>
            </a:pPr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BI </a:t>
            </a: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하단은 </a:t>
            </a:r>
            <a:r>
              <a:rPr kumimoji="0" lang="ko-KR" altLang="en-US" sz="1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밑둥</a:t>
            </a: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굵은 올리브나무</a:t>
            </a:r>
            <a:endParaRPr kumimoji="0" lang="en-US" altLang="ko-KR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컬러 </a:t>
            </a:r>
            <a:r>
              <a:rPr lang="en-US" altLang="ko-KR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– </a:t>
            </a:r>
            <a:r>
              <a:rPr lang="ko-KR" altLang="en-US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올리브그린</a:t>
            </a:r>
            <a:endParaRPr lang="en-US" altLang="ko-KR" sz="1400" dirty="0">
              <a:solidFill>
                <a:prstClr val="black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Symbol</a:t>
            </a:r>
            <a:r>
              <a:rPr lang="ko-KR" altLang="en-US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– </a:t>
            </a:r>
            <a:r>
              <a:rPr lang="ko-KR" altLang="en-US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올리브나무</a:t>
            </a:r>
            <a:endParaRPr kumimoji="0" lang="en-US" altLang="ko-KR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CD327C-C633-550B-0730-390814676078}"/>
              </a:ext>
            </a:extLst>
          </p:cNvPr>
          <p:cNvSpPr txBox="1"/>
          <p:nvPr/>
        </p:nvSpPr>
        <p:spPr>
          <a:xfrm>
            <a:off x="2221360" y="4634263"/>
            <a:ext cx="7450137" cy="1666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보석은 단순한 장신구가 아니라 </a:t>
            </a:r>
            <a:r>
              <a:rPr lang="ko-KR" altLang="en-US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가족의 역사와 사랑의 시간을 담아</a:t>
            </a:r>
            <a:endParaRPr lang="en-US" altLang="ko-KR" sz="1400" dirty="0">
              <a:solidFill>
                <a:prstClr val="black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다음 세대로 이어지는 상징이 될 수 있다고 믿습니다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400" dirty="0">
              <a:solidFill>
                <a:prstClr val="black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시간이 흘러도 변하지 않는 감정과 가치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1400" dirty="0" err="1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디에르는</a:t>
            </a:r>
            <a:r>
              <a:rPr lang="ko-KR" altLang="en-US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그 영속성을 이야기합니다</a:t>
            </a:r>
            <a:r>
              <a:rPr lang="en-US" altLang="ko-KR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디에르에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당신의 스토리가 담깁니다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BCA4B-801E-EB5E-820A-DA5EB66130C7}"/>
              </a:ext>
            </a:extLst>
          </p:cNvPr>
          <p:cNvSpPr txBox="1"/>
          <p:nvPr/>
        </p:nvSpPr>
        <p:spPr>
          <a:xfrm>
            <a:off x="3409950" y="3244334"/>
            <a:ext cx="1685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Brand Identity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1890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2AB">
            <a:alpha val="5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D378A3-60CC-099C-B3A1-8870EDC2B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19096E54-A611-BB16-66D5-549A4EC73707}"/>
              </a:ext>
            </a:extLst>
          </p:cNvPr>
          <p:cNvSpPr txBox="1"/>
          <p:nvPr/>
        </p:nvSpPr>
        <p:spPr>
          <a:xfrm>
            <a:off x="2665710" y="766023"/>
            <a:ext cx="6860580" cy="547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sz="20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부모님의 금방과</a:t>
            </a:r>
            <a:endParaRPr lang="en-US" altLang="ko-KR" sz="2000" b="1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</a:pPr>
            <a:r>
              <a:rPr lang="en-US" altLang="ko-KR" sz="20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80</a:t>
            </a:r>
            <a:r>
              <a:rPr lang="ko-KR" altLang="en-US" sz="20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년 이상 세월이 이어진 가업</a:t>
            </a:r>
            <a:endParaRPr lang="en-US" altLang="ko-KR" sz="1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</a:pPr>
            <a:endParaRPr lang="en-US" altLang="ko-KR" sz="1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</a:pPr>
            <a:endParaRPr lang="en-US" altLang="ko-KR" sz="1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</a:pPr>
            <a:endParaRPr lang="en-US" altLang="ko-KR" sz="1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</a:pPr>
            <a:endParaRPr lang="en-US" altLang="ko-KR" sz="1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</a:pPr>
            <a:endParaRPr lang="en-US" altLang="ko-KR" sz="1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</a:pPr>
            <a:r>
              <a:rPr lang="en-US" altLang="ko-KR" sz="20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DIHEIR by DOROCY</a:t>
            </a:r>
          </a:p>
          <a:p>
            <a:pPr algn="ctr" latinLnBrk="0">
              <a:lnSpc>
                <a:spcPct val="150000"/>
              </a:lnSpc>
            </a:pPr>
            <a:endParaRPr lang="en-US" altLang="ko-KR" sz="15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</a:pPr>
            <a:r>
              <a:rPr lang="ko-KR" altLang="en-US" sz="15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디에르</a:t>
            </a:r>
            <a: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(DIHEIR)</a:t>
            </a: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는</a:t>
            </a:r>
          </a:p>
          <a:p>
            <a:pPr algn="ctr" latinLnBrk="0">
              <a:lnSpc>
                <a:spcPct val="150000"/>
              </a:lnSpc>
            </a:pP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프리미엄 </a:t>
            </a:r>
            <a:r>
              <a:rPr lang="ko-KR" altLang="en-US" sz="15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주얼리</a:t>
            </a: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디자인 하우스 ‘</a:t>
            </a:r>
            <a:r>
              <a:rPr lang="ko-KR" altLang="en-US" sz="15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도로시</a:t>
            </a:r>
            <a: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(DOROCY)’</a:t>
            </a: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에서 새롭게 전개하는</a:t>
            </a:r>
          </a:p>
          <a:p>
            <a:pPr algn="ctr" latinLnBrk="0">
              <a:lnSpc>
                <a:spcPct val="150000"/>
              </a:lnSpc>
            </a:pP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하이 </a:t>
            </a:r>
            <a:r>
              <a:rPr lang="ko-KR" altLang="en-US" sz="15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주얼리</a:t>
            </a: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브랜드입니다</a:t>
            </a:r>
            <a: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algn="ctr" latinLnBrk="0">
              <a:lnSpc>
                <a:spcPct val="150000"/>
              </a:lnSpc>
            </a:pPr>
            <a:endParaRPr lang="en-US" altLang="ko-KR" sz="15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</a:pP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더 멋진 디자인과 더 높은 완성도의 작품을 만들고 싶다는</a:t>
            </a:r>
            <a:endParaRPr lang="en-US" altLang="ko-KR" sz="15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</a:pP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도로시의 순수 열정은 </a:t>
            </a:r>
            <a:r>
              <a:rPr lang="ko-KR" altLang="en-US" sz="15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디에르를</a:t>
            </a: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탄생시킨 원동력이었습니다</a:t>
            </a:r>
            <a: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391E46-A060-3530-E521-C3155503F62A}"/>
              </a:ext>
            </a:extLst>
          </p:cNvPr>
          <p:cNvSpPr txBox="1"/>
          <p:nvPr/>
        </p:nvSpPr>
        <p:spPr>
          <a:xfrm>
            <a:off x="4237335" y="2008734"/>
            <a:ext cx="4106565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외할아버지의 동광당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동대문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-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부모님의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삼정사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대구 교</a:t>
            </a:r>
            <a:r>
              <a:rPr lang="ko-KR" altLang="en-US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동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시장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호 금방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- 3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남매의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도로시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(1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등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주얼리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쇼핑몰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36868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2AB">
            <a:alpha val="5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09FC8B-78BE-6524-17A0-7006DBC6C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F4B58FB5-6349-C8CB-3DB3-B1A471166CCD}"/>
              </a:ext>
            </a:extLst>
          </p:cNvPr>
          <p:cNvSpPr txBox="1"/>
          <p:nvPr/>
        </p:nvSpPr>
        <p:spPr>
          <a:xfrm>
            <a:off x="2328465" y="1454613"/>
            <a:ext cx="7535069" cy="464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sz="20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올리브 나무</a:t>
            </a:r>
            <a:endParaRPr lang="en-US" altLang="ko-KR" sz="2000" b="1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</a:pPr>
            <a:endParaRPr lang="ko-KR" altLang="en-US" sz="1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</a:pP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올리브</a:t>
            </a:r>
            <a: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나무는 사계절 푸른 잎을 유지하며</a:t>
            </a:r>
            <a: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</a:p>
          <a:p>
            <a:pPr algn="ctr" latinLnBrk="0">
              <a:lnSpc>
                <a:spcPct val="150000"/>
              </a:lnSpc>
            </a:pP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매우 단단하고 강인하며</a:t>
            </a:r>
            <a:endParaRPr lang="en-US" altLang="ko-KR" sz="15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</a:pP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수백 년 이상 사는 강한 생명력을 가지고</a:t>
            </a:r>
            <a: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올리브 열매를 생산합니다</a:t>
            </a:r>
            <a: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algn="ctr" latinLnBrk="0">
              <a:lnSpc>
                <a:spcPct val="150000"/>
              </a:lnSpc>
            </a:pP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평화와 화해</a:t>
            </a:r>
            <a: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풍요와 번성</a:t>
            </a:r>
            <a:endParaRPr lang="en-US" altLang="ko-KR" sz="15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</a:pP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지혜와 승리</a:t>
            </a:r>
            <a: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생명력과 장수의 의미를 가집니다</a:t>
            </a:r>
            <a: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algn="ctr" latinLnBrk="0">
              <a:lnSpc>
                <a:spcPct val="150000"/>
              </a:lnSpc>
            </a:pPr>
            <a:endParaRPr lang="en-US" altLang="ko-KR" sz="15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</a:pPr>
            <a:r>
              <a:rPr lang="ko-KR" altLang="en-US" sz="15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디에르의</a:t>
            </a: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심볼인 올리브나무의 의미인</a:t>
            </a:r>
            <a:endParaRPr lang="en-US" altLang="ko-KR" sz="15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</a:pP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결실</a:t>
            </a:r>
            <a: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승리</a:t>
            </a:r>
            <a: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장수</a:t>
            </a:r>
            <a: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풍요</a:t>
            </a:r>
            <a: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번성은</a:t>
            </a:r>
            <a:endParaRPr lang="en-US" altLang="ko-KR" sz="15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</a:pPr>
            <a:r>
              <a:rPr lang="ko-KR" altLang="en-US" sz="15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디에르</a:t>
            </a: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디자인 스토리의 원동력입니다</a:t>
            </a:r>
            <a: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algn="ctr" latinLnBrk="0">
              <a:lnSpc>
                <a:spcPct val="150000"/>
              </a:lnSpc>
            </a:pPr>
            <a:endParaRPr lang="en-US" altLang="ko-KR" sz="15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</a:pPr>
            <a:r>
              <a:rPr lang="ko-KR" altLang="en-US" sz="15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디에르는</a:t>
            </a: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사람과 사람의 사랑과 기억을 잇는 가보입니다</a:t>
            </a:r>
            <a: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7868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2A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CFFA0B-E055-78F1-8B81-382D834D7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0D27C245-070B-FDE2-BDBF-D65BC2940C90}"/>
              </a:ext>
            </a:extLst>
          </p:cNvPr>
          <p:cNvSpPr txBox="1"/>
          <p:nvPr/>
        </p:nvSpPr>
        <p:spPr>
          <a:xfrm>
            <a:off x="2847975" y="1101805"/>
            <a:ext cx="6496050" cy="4361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sz="20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장인 정신</a:t>
            </a:r>
          </a:p>
          <a:p>
            <a:pPr algn="ctr" latinLnBrk="0">
              <a:lnSpc>
                <a:spcPct val="150000"/>
              </a:lnSpc>
            </a:pPr>
            <a:endParaRPr lang="en-US" altLang="ko-KR" sz="1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</a:pPr>
            <a:r>
              <a:rPr lang="ko-KR" altLang="en-US" sz="15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디에르의</a:t>
            </a: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작품들은</a:t>
            </a:r>
          </a:p>
          <a:p>
            <a:pPr algn="ctr" latinLnBrk="0">
              <a:lnSpc>
                <a:spcPct val="150000"/>
              </a:lnSpc>
            </a:pPr>
            <a:r>
              <a:rPr lang="ko-KR" altLang="en-US" sz="15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주얼리</a:t>
            </a: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명장님들의</a:t>
            </a:r>
            <a:r>
              <a:rPr lang="ko-KR" altLang="en-US" sz="15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정교한 세공</a:t>
            </a: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통해 완성됩니다</a:t>
            </a:r>
            <a: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algn="ctr" latinLnBrk="0">
              <a:lnSpc>
                <a:spcPct val="150000"/>
              </a:lnSpc>
            </a:pPr>
            <a:endParaRPr lang="en-US" altLang="ko-KR" sz="15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</a:pP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완벽한 비율과 균형</a:t>
            </a:r>
            <a: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</a:t>
            </a:r>
          </a:p>
          <a:p>
            <a:pPr algn="ctr" latinLnBrk="0">
              <a:lnSpc>
                <a:spcPct val="150000"/>
              </a:lnSpc>
            </a:pP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섬세한 디테일</a:t>
            </a:r>
            <a: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algn="ctr" latinLnBrk="0">
              <a:lnSpc>
                <a:spcPct val="150000"/>
              </a:lnSpc>
            </a:pP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편안한 착용감까지 아우르는 완성도</a:t>
            </a:r>
            <a: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algn="ctr" latinLnBrk="0">
              <a:lnSpc>
                <a:spcPct val="150000"/>
              </a:lnSpc>
            </a:pPr>
            <a:endParaRPr lang="en-US" altLang="ko-KR" sz="15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세대를 이어 전해지는 작품들은</a:t>
            </a:r>
            <a:endParaRPr lang="en-US" altLang="ko-KR" sz="16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 스토리와 사랑이 같이 전달되어야 합니다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algn="ctr" latinLnBrk="0"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가보의 가치는 타협하지 않는 장인 정신을 통해 완성됩니다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0053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2A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92FE0A-3435-53C6-F2F9-B41543CA5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028A63-F0E8-A5B9-5742-9E46EA3D4645}"/>
              </a:ext>
            </a:extLst>
          </p:cNvPr>
          <p:cNvSpPr txBox="1"/>
          <p:nvPr/>
        </p:nvSpPr>
        <p:spPr>
          <a:xfrm>
            <a:off x="3048000" y="1702479"/>
            <a:ext cx="6096000" cy="3602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Jewelry as Legacy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디에르는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‘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유산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’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물질이 아닌 감정으로 바라봅니다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부모에서 자녀로</a:t>
            </a:r>
            <a:r>
              <a:rPr lang="en-US" altLang="ko-KR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사랑하는 </a:t>
            </a:r>
            <a:r>
              <a:rPr lang="ko-KR" altLang="en-US" sz="1500" dirty="0" err="1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사람에게로</a:t>
            </a:r>
            <a:r>
              <a:rPr lang="ko-KR" altLang="en-US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이어지는 이야기</a:t>
            </a:r>
            <a:r>
              <a:rPr lang="en-US" altLang="ko-KR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그리고 오래도록 기억으로 남는 순간들</a:t>
            </a:r>
            <a:r>
              <a:rPr lang="en-US" altLang="ko-KR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500" dirty="0">
              <a:solidFill>
                <a:prstClr val="black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500" dirty="0" err="1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디에르는</a:t>
            </a:r>
            <a:r>
              <a:rPr lang="ko-KR" altLang="en-US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1500" dirty="0" err="1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주얼리를</a:t>
            </a:r>
            <a:r>
              <a:rPr lang="ko-KR" altLang="en-US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통해</a:t>
            </a:r>
            <a:endParaRPr lang="en-US" altLang="ko-KR" sz="1500" dirty="0">
              <a:solidFill>
                <a:prstClr val="black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사람과 사람 사이의 시간을 연결하고자 합니다</a:t>
            </a:r>
            <a:r>
              <a:rPr lang="en-US" altLang="ko-KR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2906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2A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CEA86-490F-5DE5-023C-03DB8EF82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E05C78-3774-E19C-5177-2B6739572FFB}"/>
              </a:ext>
            </a:extLst>
          </p:cNvPr>
          <p:cNvSpPr txBox="1"/>
          <p:nvPr/>
        </p:nvSpPr>
        <p:spPr>
          <a:xfrm>
            <a:off x="3048000" y="1673904"/>
            <a:ext cx="6096000" cy="318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리세팅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서비스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디에르의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전문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주얼리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디자이너는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고객님의 의미 있는 보석이 더욱 가치 있도록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리세팅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서비스를 제공해 드립니다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고객의 취향과 의미를 반영한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커스터마이징 서비스를 더해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디에르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ko-KR" alt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주얼리는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세대를 잇는 이야기로 완성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됩니다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kumimoji="0" lang="ko-KR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4520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2A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1B2A44-CF74-05B6-0821-2708E78C4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676948-7507-1279-595D-E87503BBF7E2}"/>
              </a:ext>
            </a:extLst>
          </p:cNvPr>
          <p:cNvSpPr txBox="1"/>
          <p:nvPr/>
        </p:nvSpPr>
        <p:spPr>
          <a:xfrm>
            <a:off x="3048000" y="1256518"/>
            <a:ext cx="6096000" cy="427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The First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Principle – Comfort Fit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“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편안하지 않다면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디에르는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디자인하지 않습니다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.”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디에르가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가장 먼저 고</a:t>
            </a:r>
            <a:r>
              <a:rPr lang="ko-KR" altLang="en-US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민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하는 것은 디자인 이전의 감각입니다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500" dirty="0">
              <a:solidFill>
                <a:prstClr val="black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손끝이 처음 반지를 마주하는 순간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오랜 시간 함께했을 때의 편안함과 자연스러움</a:t>
            </a:r>
            <a:endParaRPr lang="en-US" altLang="ko-KR" sz="1500" dirty="0">
              <a:solidFill>
                <a:prstClr val="black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그리고 일상 속에서 잊은 듯 스며드는 </a:t>
            </a:r>
            <a:r>
              <a:rPr kumimoji="0" lang="ko-KR" alt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착용감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설계 기준</a:t>
            </a:r>
            <a:r>
              <a:rPr lang="en-US" altLang="ko-KR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0.1mm</a:t>
            </a:r>
            <a:r>
              <a:rPr lang="ko-KR" altLang="en-US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차이에서 착용의 편안함이 완성됩니다</a:t>
            </a:r>
            <a:r>
              <a:rPr lang="en-US" altLang="ko-KR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500" dirty="0" err="1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디에르는</a:t>
            </a:r>
            <a:r>
              <a:rPr lang="ko-KR" altLang="en-US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착용의 모든 순간을 설계합니다</a:t>
            </a:r>
            <a:r>
              <a:rPr lang="en-US" altLang="ko-KR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kumimoji="0" lang="ko-KR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5517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2A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BB6CAA-FBAB-6AED-AF63-6DCDBBDE0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8A97B3-B9F5-4A5D-FADE-B8785BBE2C24}"/>
              </a:ext>
            </a:extLst>
          </p:cNvPr>
          <p:cNvSpPr txBox="1"/>
          <p:nvPr/>
        </p:nvSpPr>
        <p:spPr>
          <a:xfrm>
            <a:off x="3048000" y="1764350"/>
            <a:ext cx="6096000" cy="325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Invisible Precision – Comfort Fit for Size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총 </a:t>
            </a:r>
            <a:r>
              <a:rPr lang="en-US" altLang="ko-KR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180</a:t>
            </a:r>
            <a:r>
              <a:rPr lang="ko-KR" altLang="en-US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개의 </a:t>
            </a:r>
            <a:r>
              <a:rPr lang="en-US" altLang="ko-KR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14K </a:t>
            </a:r>
            <a:r>
              <a:rPr lang="ko-KR" altLang="en-US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옐로우 골드 사이즈 링 </a:t>
            </a:r>
            <a:r>
              <a:rPr lang="en-US" altLang="ko-KR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br>
              <a:rPr lang="en-US" altLang="ko-KR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endParaRPr lang="en-US" altLang="ko-KR" sz="1500" dirty="0">
              <a:solidFill>
                <a:prstClr val="black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2.5mm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부터 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5.0mm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까지 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7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가지 폭의 밴드를 사이즈 반지로 제작하여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고객이 가장 자연스러운 감각을 찾을 수 있도록 했습니다</a:t>
            </a:r>
            <a:r>
              <a:rPr lang="en-US" altLang="ko-KR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오랜 시간 곁에 머무를 반지와 함께할 고객님을 위한</a:t>
            </a: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500" dirty="0" err="1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디에르의</a:t>
            </a:r>
            <a:r>
              <a:rPr lang="ko-KR" altLang="en-US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배려이자 철학입니다</a:t>
            </a:r>
            <a:r>
              <a:rPr lang="en-US" altLang="ko-KR" sz="15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kumimoji="0" lang="ko-KR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4706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2A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7B4589-A072-E9BC-09A6-E5385988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A57775-7FCC-E378-5A8C-96EA2E8016C1}"/>
              </a:ext>
            </a:extLst>
          </p:cNvPr>
          <p:cNvSpPr txBox="1"/>
          <p:nvPr/>
        </p:nvSpPr>
        <p:spPr>
          <a:xfrm>
            <a:off x="3048000" y="992825"/>
            <a:ext cx="6096000" cy="1481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dirty="0" err="1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보석같은사람들</a:t>
            </a:r>
            <a:r>
              <a:rPr lang="ko-KR" altLang="en-US" sz="2000" b="1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경영이념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400" dirty="0">
              <a:solidFill>
                <a:prstClr val="black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505934-1857-74BF-57AA-B0642C3C6C5F}"/>
              </a:ext>
            </a:extLst>
          </p:cNvPr>
          <p:cNvSpPr txBox="1"/>
          <p:nvPr/>
        </p:nvSpPr>
        <p:spPr>
          <a:xfrm>
            <a:off x="457200" y="2031050"/>
            <a:ext cx="5181600" cy="3559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VALUE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고객만족이 최우선 가치</a:t>
            </a:r>
            <a:b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고객이 원하는 것을 고민하고 실행하는 전문가로서</a:t>
            </a:r>
            <a:b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익숙함보다는 열정으로 새로운 가치를 창출한다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b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b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RESOURCE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함께 발전하는 우리</a:t>
            </a:r>
            <a:b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나의 발전은 곧 회사의 발전이며</a:t>
            </a:r>
            <a:b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이것을 </a:t>
            </a:r>
            <a:r>
              <a:rPr kumimoji="0" lang="ko-KR" alt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실천해나가는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우리는 </a:t>
            </a:r>
            <a:r>
              <a:rPr kumimoji="0" lang="ko-KR" alt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보석같은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사람들이다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C30ABF-870F-7873-5821-23011E6475F3}"/>
              </a:ext>
            </a:extLst>
          </p:cNvPr>
          <p:cNvSpPr txBox="1"/>
          <p:nvPr/>
        </p:nvSpPr>
        <p:spPr>
          <a:xfrm>
            <a:off x="6096000" y="2031050"/>
            <a:ext cx="5791202" cy="3882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COMMUNICATION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건강한 소통</a:t>
            </a:r>
            <a:b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우리는 원칙을 준수하고 투명하고 긍정적이며</a:t>
            </a:r>
            <a:b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건강한 소통으로 </a:t>
            </a:r>
            <a:r>
              <a:rPr kumimoji="0" lang="ko-KR" alt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발전해나가는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감사할 줄 아는 </a:t>
            </a:r>
            <a:r>
              <a:rPr kumimoji="0" lang="ko-KR" alt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보석같은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사람들이다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b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b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CHALLENGE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미래를 향한 도전</a:t>
            </a:r>
            <a:b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100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년 후에도 변치 않는 가치를 전하는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‘DOROCY’</a:t>
            </a:r>
            <a:b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고객에게 인정받는 </a:t>
            </a:r>
            <a:r>
              <a:rPr kumimoji="0" lang="ko-KR" alt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주얼리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기업을 만들기 위하여</a:t>
            </a:r>
            <a:b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실패를 두려워하지 않고 끊임없이 도전한다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976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2A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E1776A-C439-F675-CF0E-E1DCDF4D2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8FF73A-CF23-0074-3213-9CDC65D37F58}"/>
              </a:ext>
            </a:extLst>
          </p:cNvPr>
          <p:cNvSpPr txBox="1"/>
          <p:nvPr/>
        </p:nvSpPr>
        <p:spPr>
          <a:xfrm>
            <a:off x="1847850" y="764225"/>
            <a:ext cx="8496300" cy="5498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DIHEIR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 err="1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Cheongdam</a:t>
            </a:r>
            <a:r>
              <a:rPr lang="en-US" altLang="ko-KR" sz="2000" b="1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space story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디에르는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단순한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주얼리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공간이 아니다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따뜻한 햇살과 푸르른 녹음을 간직한 중정</a:t>
            </a:r>
            <a:r>
              <a:rPr lang="en-US" altLang="ko-KR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!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오랜 시간 사람들의 사랑과 기억이 머물렀던 장소를 그리며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원목마루 조각 하나</a:t>
            </a:r>
            <a:r>
              <a:rPr lang="en-US" altLang="ko-KR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베이지색 대리석으로 이어간다</a:t>
            </a:r>
            <a:r>
              <a:rPr lang="en-US" altLang="ko-KR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 err="1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디에르의</a:t>
            </a:r>
            <a:r>
              <a:rPr lang="ko-KR" altLang="en-US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첫 번째 원칙 </a:t>
            </a:r>
            <a:r>
              <a:rPr lang="en-US" altLang="ko-KR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“</a:t>
            </a:r>
            <a:r>
              <a:rPr lang="ko-KR" altLang="en-US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편안하지 않다면 디자인하지 않는다</a:t>
            </a:r>
            <a:r>
              <a:rPr lang="en-US" altLang="ko-KR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”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테이블의 원목 상판에도 부드러운 굴림으로 디자인하여 그 원칙을 공간에 새긴다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400" dirty="0">
              <a:solidFill>
                <a:prstClr val="black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천정에 매달린 아마존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트레버틴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천연 대리석과 원목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그리고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주얼리만을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위해 설계된 빛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모든 요소는 시간을 견디는 아름다움을 위해 존재한다</a:t>
            </a:r>
            <a:r>
              <a:rPr lang="en-US" altLang="ko-KR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누군가에게 이곳이 </a:t>
            </a:r>
            <a:r>
              <a:rPr lang="en-US" altLang="ko-KR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“</a:t>
            </a:r>
            <a:r>
              <a:rPr lang="ko-KR" altLang="en-US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그때 그 공간</a:t>
            </a:r>
            <a:r>
              <a:rPr lang="en-US" altLang="ko-KR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“ </a:t>
            </a:r>
            <a:r>
              <a:rPr lang="ko-KR" altLang="en-US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으로 기억되길 바란다</a:t>
            </a:r>
            <a:r>
              <a:rPr lang="en-US" altLang="ko-KR" sz="14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5873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2A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30ECA4-2F59-D7DB-480A-83EBBDDAD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B87C50-3A88-6F4E-630F-5E587DAF1C26}"/>
              </a:ext>
            </a:extLst>
          </p:cNvPr>
          <p:cNvSpPr txBox="1"/>
          <p:nvPr/>
        </p:nvSpPr>
        <p:spPr>
          <a:xfrm>
            <a:off x="3048000" y="2231075"/>
            <a:ext cx="6096000" cy="1943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“Jewelry becomes meaningful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When it carries memories beyond time”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세대를 지나 기억으로 남는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주얼리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디에르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0744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2AB">
            <a:alpha val="5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26170E-F49E-38DC-CF4E-B11DE1ED6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53B97572-C8EF-E1AE-BD78-B1A922D8F6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25"/>
          <a:stretch>
            <a:fillRect/>
          </a:stretch>
        </p:blipFill>
        <p:spPr>
          <a:xfrm>
            <a:off x="7172325" y="-78583"/>
            <a:ext cx="4953000" cy="52768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71585C-F640-BAFE-6131-2E4C784D8037}"/>
              </a:ext>
            </a:extLst>
          </p:cNvPr>
          <p:cNvSpPr txBox="1"/>
          <p:nvPr/>
        </p:nvSpPr>
        <p:spPr>
          <a:xfrm>
            <a:off x="1771253" y="1193532"/>
            <a:ext cx="8649493" cy="5055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LOV</a:t>
            </a:r>
            <a:r>
              <a:rPr lang="en-US" altLang="ko-KR" sz="1400" b="1" dirty="0">
                <a:solidFill>
                  <a:prstClr val="black"/>
                </a:solidFill>
              </a:rPr>
              <a:t>(Lily Of the Valley)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Collection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은방울꽃</a:t>
            </a:r>
            <a:r>
              <a:rPr lang="ko-KR" altLang="en-US" sz="15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의 꽃말</a:t>
            </a:r>
            <a:r>
              <a:rPr lang="en-US" altLang="ko-KR" sz="15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,</a:t>
            </a:r>
            <a:r>
              <a:rPr lang="ko-KR" altLang="en-US" sz="15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 </a:t>
            </a:r>
            <a:r>
              <a:rPr lang="en-US" altLang="ko-KR" sz="15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“</a:t>
            </a:r>
            <a:r>
              <a:rPr lang="ko-KR" altLang="en-US" sz="15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틀림없이 행복해집니다</a:t>
            </a:r>
            <a:r>
              <a:rPr lang="en-US" altLang="ko-KR" sz="15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”</a:t>
            </a:r>
            <a:endParaRPr kumimoji="0" lang="ko-KR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  <a:p>
            <a:pPr algn="ctr" latinLnBrk="0">
              <a:lnSpc>
                <a:spcPct val="150000"/>
              </a:lnSpc>
              <a:spcBef>
                <a:spcPts val="1000"/>
              </a:spcBef>
            </a:pPr>
            <a:r>
              <a:rPr lang="ko-KR" altLang="ko-KR" sz="1400" dirty="0"/>
              <a:t>The </a:t>
            </a:r>
            <a:r>
              <a:rPr lang="ko-KR" altLang="ko-KR" sz="1400" dirty="0" err="1"/>
              <a:t>Lily</a:t>
            </a:r>
            <a:r>
              <a:rPr lang="ko-KR" altLang="ko-KR" sz="1400" dirty="0"/>
              <a:t> of </a:t>
            </a:r>
            <a:r>
              <a:rPr lang="ko-KR" altLang="ko-KR" sz="1400" dirty="0" err="1"/>
              <a:t>the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Valley</a:t>
            </a:r>
            <a:r>
              <a:rPr lang="ko-KR" altLang="ko-KR" sz="1400" dirty="0"/>
              <a:t> </a:t>
            </a:r>
            <a:r>
              <a:rPr lang="ko-KR" altLang="ko-KR" sz="1400" dirty="0" err="1"/>
              <a:t>symbolizes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a</a:t>
            </a:r>
            <a:r>
              <a:rPr lang="ko-KR" altLang="ko-KR" sz="1400" dirty="0"/>
              <a:t> </a:t>
            </a:r>
            <a:r>
              <a:rPr lang="ko-KR" altLang="ko-KR" sz="1400" dirty="0" err="1"/>
              <a:t>promise</a:t>
            </a:r>
            <a:r>
              <a:rPr lang="ko-KR" altLang="ko-KR" sz="1400" dirty="0"/>
              <a:t>:</a:t>
            </a:r>
            <a:br>
              <a:rPr lang="ko-KR" altLang="ko-KR" sz="1400" dirty="0"/>
            </a:br>
            <a:r>
              <a:rPr lang="ko-KR" altLang="ko-KR" sz="1400" dirty="0"/>
              <a:t>"</a:t>
            </a:r>
            <a:r>
              <a:rPr lang="ko-KR" altLang="ko-KR" sz="1400" dirty="0" err="1"/>
              <a:t>Surely</a:t>
            </a:r>
            <a:r>
              <a:rPr lang="ko-KR" altLang="ko-KR" sz="1400" dirty="0"/>
              <a:t>, </a:t>
            </a:r>
            <a:r>
              <a:rPr lang="ko-KR" altLang="ko-KR" sz="1400" dirty="0" err="1"/>
              <a:t>Happiness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Awaits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You</a:t>
            </a:r>
            <a:r>
              <a:rPr lang="ko-KR" altLang="ko-KR" sz="1400" dirty="0"/>
              <a:t>.“</a:t>
            </a:r>
            <a:endParaRPr lang="en-US" altLang="ko-KR" sz="1400" dirty="0"/>
          </a:p>
          <a:p>
            <a:pPr algn="ctr" latinLnBrk="0">
              <a:spcBef>
                <a:spcPts val="1000"/>
              </a:spcBef>
            </a:pPr>
            <a:endParaRPr lang="en-US" altLang="ko-KR" sz="15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</a:pPr>
            <a:r>
              <a:rPr lang="ko-KR" altLang="en-US" sz="15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로브</a:t>
            </a:r>
            <a:r>
              <a:rPr lang="en-US" altLang="ko-KR" sz="15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15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컬렉션</a:t>
            </a: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은 은빛의 작은 은방울꽃이 바람에 흔들리며 맑은 울림을 만들어내듯</a:t>
            </a:r>
            <a:endParaRPr lang="en-US" altLang="ko-KR" sz="15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</a:pP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반드시 행복해지시라는 염원과 울림을 담은 디자인입니다</a:t>
            </a:r>
            <a: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algn="ctr" latinLnBrk="0">
              <a:lnSpc>
                <a:spcPct val="150000"/>
              </a:lnSpc>
            </a:pPr>
            <a:endParaRPr lang="en-US" altLang="ko-KR" sz="15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 algn="ctr" latinLnBrk="0">
              <a:lnSpc>
                <a:spcPct val="150000"/>
              </a:lnSpc>
              <a:buFont typeface="Wingdings" panose="05000000000000000000" pitchFamily="2" charset="2"/>
              <a:buChar char=""/>
            </a:pP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Wingdings" panose="05000000000000000000" pitchFamily="2" charset="2"/>
              </a:rPr>
              <a:t>잎 라인</a:t>
            </a:r>
            <a:endParaRPr lang="en-US" altLang="ko-KR" sz="15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Wingdings" panose="05000000000000000000" pitchFamily="2" charset="2"/>
            </a:endParaRPr>
          </a:p>
          <a:p>
            <a:pPr marL="285750" indent="-285750" algn="ctr" latinLnBrk="0">
              <a:lnSpc>
                <a:spcPct val="150000"/>
              </a:lnSpc>
              <a:buFont typeface="Wingdings" panose="05000000000000000000" pitchFamily="2" charset="2"/>
              <a:buChar char=""/>
            </a:pP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Wingdings" panose="05000000000000000000" pitchFamily="2" charset="2"/>
              </a:rPr>
              <a:t>꽃 라인</a:t>
            </a:r>
            <a:endParaRPr lang="en-US" altLang="ko-KR" sz="15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  <a:sym typeface="Wingdings" panose="05000000000000000000" pitchFamily="2" charset="2"/>
            </a:endParaRPr>
          </a:p>
          <a:p>
            <a:pPr marL="285750" indent="-285750" algn="ctr" latinLnBrk="0">
              <a:lnSpc>
                <a:spcPct val="150000"/>
              </a:lnSpc>
              <a:buFont typeface="Wingdings" panose="05000000000000000000" pitchFamily="2" charset="2"/>
              <a:buChar char=""/>
            </a:pP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Wingdings" panose="05000000000000000000" pitchFamily="2" charset="2"/>
              </a:rPr>
              <a:t>결 라인</a:t>
            </a:r>
            <a:endParaRPr lang="en-US" altLang="ko-KR" sz="15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</a:pPr>
            <a:endParaRPr lang="en-US" altLang="ko-KR" sz="1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</a:pPr>
            <a:endParaRPr lang="en-US" altLang="ko-KR" sz="1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spcBef>
                <a:spcPts val="1000"/>
              </a:spcBef>
            </a:pPr>
            <a:r>
              <a:rPr lang="en-US" altLang="ko-KR" sz="11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* </a:t>
            </a:r>
            <a:r>
              <a:rPr lang="ko-KR" altLang="en-US" sz="11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결혼식 부케의 최고급 버전인 은방울꽃 부케</a:t>
            </a:r>
            <a:r>
              <a:rPr lang="en-US" altLang="ko-KR" sz="11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,</a:t>
            </a:r>
            <a:r>
              <a:rPr lang="ko-KR" altLang="en-US" sz="11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 </a:t>
            </a:r>
            <a:r>
              <a:rPr lang="ko-KR" altLang="en-US" sz="1100" dirty="0">
                <a:latin typeface="Pretendard Light" panose="02000403000000020004" pitchFamily="50" charset="-127"/>
                <a:ea typeface="Pretendard Variable Black" panose="02000003000000020004" pitchFamily="2" charset="-127"/>
                <a:cs typeface="Pretendard Light" panose="02000403000000020004" pitchFamily="50" charset="-127"/>
              </a:rPr>
              <a:t>그 이유는 행복해진다는 꽃말의 의미</a:t>
            </a:r>
            <a:endParaRPr lang="en-US" altLang="ko-KR" sz="1100" dirty="0">
              <a:latin typeface="Pretendard Light" panose="02000403000000020004" pitchFamily="50" charset="-127"/>
              <a:ea typeface="Pretendard Variable Black" panose="02000003000000020004" pitchFamily="2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9377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2AB">
            <a:alpha val="5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A72F89-D872-BF5F-88D9-6E8E4002F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445755-52A9-62BE-385F-CE58F53688BA}"/>
              </a:ext>
            </a:extLst>
          </p:cNvPr>
          <p:cNvSpPr txBox="1"/>
          <p:nvPr/>
        </p:nvSpPr>
        <p:spPr>
          <a:xfrm>
            <a:off x="3703635" y="486925"/>
            <a:ext cx="4784725" cy="163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LOV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(Lily Of the Valley)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Collection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은방울꽃의 꽃말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“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틀림없이 행복해집니다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”</a:t>
            </a:r>
            <a:endParaRPr kumimoji="0" lang="ko-KR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The </a:t>
            </a:r>
            <a:r>
              <a:rPr kumimoji="0" lang="ko-KR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Lily</a:t>
            </a:r>
            <a:r>
              <a:rPr kumimoji="0" lang="ko-KR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of </a:t>
            </a:r>
            <a:r>
              <a:rPr kumimoji="0" lang="ko-KR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the</a:t>
            </a:r>
            <a:r>
              <a:rPr kumimoji="0" lang="ko-KR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Valley</a:t>
            </a:r>
            <a:r>
              <a:rPr kumimoji="0" lang="ko-KR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symbolizes</a:t>
            </a:r>
            <a:r>
              <a:rPr kumimoji="0" lang="ko-KR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a</a:t>
            </a:r>
            <a:r>
              <a:rPr kumimoji="0" lang="ko-KR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promise</a:t>
            </a:r>
            <a:r>
              <a:rPr kumimoji="0" lang="ko-KR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:</a:t>
            </a:r>
            <a:br>
              <a:rPr kumimoji="0" lang="ko-KR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</a:br>
            <a:r>
              <a:rPr kumimoji="0" lang="ko-KR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"</a:t>
            </a:r>
            <a:r>
              <a:rPr kumimoji="0" lang="ko-KR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Surely</a:t>
            </a:r>
            <a:r>
              <a:rPr kumimoji="0" lang="ko-KR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Happiness</a:t>
            </a:r>
            <a:r>
              <a:rPr kumimoji="0" lang="ko-KR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Awaits</a:t>
            </a:r>
            <a:r>
              <a:rPr kumimoji="0" lang="ko-KR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You</a:t>
            </a:r>
            <a:r>
              <a:rPr kumimoji="0" lang="ko-KR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.“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C84F9D-CC19-B0D0-AA56-951B57427547}"/>
              </a:ext>
            </a:extLst>
          </p:cNvPr>
          <p:cNvSpPr txBox="1"/>
          <p:nvPr/>
        </p:nvSpPr>
        <p:spPr>
          <a:xfrm>
            <a:off x="999331" y="5556875"/>
            <a:ext cx="2267744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  <a:spcBef>
                <a:spcPts val="1000"/>
              </a:spcBef>
            </a:pPr>
            <a:r>
              <a:rPr lang="ko-KR" altLang="en-US" sz="14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섬세하게 뻗는 </a:t>
            </a:r>
            <a:r>
              <a:rPr lang="en-US" altLang="ko-KR" sz="14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‘</a:t>
            </a:r>
            <a:r>
              <a:rPr lang="ko-KR" altLang="en-US" sz="14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잎</a:t>
            </a:r>
            <a:r>
              <a:rPr lang="en-US" altLang="ko-KR" sz="14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’</a:t>
            </a:r>
            <a:r>
              <a:rPr lang="ko-KR" altLang="en-US" sz="14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의 곡선</a:t>
            </a:r>
            <a:endParaRPr lang="en-US" altLang="ko-KR" sz="1400" dirty="0"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52CD44-144E-694C-DBA4-DB7809677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56" t="34723" r="29998" b="36264"/>
          <a:stretch>
            <a:fillRect/>
          </a:stretch>
        </p:blipFill>
        <p:spPr>
          <a:xfrm>
            <a:off x="802013" y="2401802"/>
            <a:ext cx="2797308" cy="14001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CF3AD1-9676-F208-E52F-8D1E9180A4C1}"/>
              </a:ext>
            </a:extLst>
          </p:cNvPr>
          <p:cNvSpPr txBox="1"/>
          <p:nvPr/>
        </p:nvSpPr>
        <p:spPr>
          <a:xfrm>
            <a:off x="5062139" y="5576167"/>
            <a:ext cx="2067719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  <a:spcBef>
                <a:spcPts val="1000"/>
              </a:spcBef>
            </a:pPr>
            <a:r>
              <a:rPr lang="en-US" altLang="ko-KR" sz="14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‘</a:t>
            </a:r>
            <a:r>
              <a:rPr lang="ko-KR" altLang="en-US" sz="14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꽃</a:t>
            </a:r>
            <a:r>
              <a:rPr lang="en-US" altLang="ko-KR" sz="14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’</a:t>
            </a:r>
            <a:r>
              <a:rPr lang="ko-KR" altLang="en-US" sz="14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이 </a:t>
            </a:r>
            <a:r>
              <a:rPr lang="ko-KR" altLang="en-US" sz="1400" dirty="0" err="1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피어오르는</a:t>
            </a:r>
            <a:r>
              <a:rPr lang="ko-KR" altLang="en-US" sz="14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 순간</a:t>
            </a:r>
            <a:endParaRPr lang="en-US" altLang="ko-KR" sz="1400" dirty="0"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FF3760-171E-6432-8FC9-954A9411480D}"/>
              </a:ext>
            </a:extLst>
          </p:cNvPr>
          <p:cNvSpPr txBox="1"/>
          <p:nvPr/>
        </p:nvSpPr>
        <p:spPr>
          <a:xfrm>
            <a:off x="8592675" y="5556874"/>
            <a:ext cx="2705894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  <a:spcBef>
                <a:spcPts val="1000"/>
              </a:spcBef>
            </a:pPr>
            <a:r>
              <a:rPr lang="en-US" altLang="ko-KR" sz="14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‘</a:t>
            </a:r>
            <a:r>
              <a:rPr lang="ko-KR" altLang="en-US" sz="14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결</a:t>
            </a:r>
            <a:r>
              <a:rPr lang="en-US" altLang="ko-KR" sz="14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’</a:t>
            </a:r>
            <a:r>
              <a:rPr lang="ko-KR" altLang="en-US" sz="14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을 따라 흐르는 미세한 리듬</a:t>
            </a:r>
            <a:endParaRPr lang="en-US" altLang="ko-KR" sz="1400" dirty="0"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8B37A60-F54D-1B48-662F-FE9F535729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360" y="2926070"/>
            <a:ext cx="2629276" cy="197195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39F9AB8-209E-85F5-90D4-C9E4902814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360" y="3846001"/>
            <a:ext cx="2629276" cy="197195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57B92EA-C0D5-DFEE-1F90-506ACD43BA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46" t="39297" r="33826" b="38517"/>
          <a:stretch>
            <a:fillRect/>
          </a:stretch>
        </p:blipFill>
        <p:spPr>
          <a:xfrm>
            <a:off x="744863" y="3363827"/>
            <a:ext cx="2797308" cy="126432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7B54211-EB20-CE99-F33C-7CA2F95C41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6" t="33639" r="10002" b="36862"/>
          <a:stretch>
            <a:fillRect/>
          </a:stretch>
        </p:blipFill>
        <p:spPr>
          <a:xfrm>
            <a:off x="8059737" y="3773727"/>
            <a:ext cx="3771770" cy="211650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673286E-78C6-5AE8-9C66-48CE5302FE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0" t="34445" r="13146" b="39027"/>
          <a:stretch>
            <a:fillRect/>
          </a:stretch>
        </p:blipFill>
        <p:spPr>
          <a:xfrm>
            <a:off x="1085782" y="4244878"/>
            <a:ext cx="2294925" cy="117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206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2A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2B046E-C015-0549-C15E-73C232ADC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753634-D84A-6327-50CD-F3067A9512C5}"/>
              </a:ext>
            </a:extLst>
          </p:cNvPr>
          <p:cNvSpPr txBox="1"/>
          <p:nvPr/>
        </p:nvSpPr>
        <p:spPr>
          <a:xfrm>
            <a:off x="1418828" y="1164790"/>
            <a:ext cx="9354344" cy="4100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dirty="0" err="1"/>
              <a:t>Heirbound</a:t>
            </a:r>
            <a:r>
              <a:rPr lang="en-US" altLang="ko-KR" sz="2000" b="1" dirty="0"/>
              <a:t> Collection</a:t>
            </a:r>
          </a:p>
          <a:p>
            <a:pPr algn="ctr">
              <a:lnSpc>
                <a:spcPct val="150000"/>
              </a:lnSpc>
            </a:pPr>
            <a:r>
              <a:rPr lang="en-US" altLang="ko-KR" sz="14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Heirloom(</a:t>
            </a:r>
            <a:r>
              <a:rPr lang="ko-KR" altLang="en-US" sz="14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가보</a:t>
            </a:r>
            <a:r>
              <a:rPr lang="en-US" altLang="ko-KR" sz="14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) + bound(</a:t>
            </a:r>
            <a:r>
              <a:rPr lang="ko-KR" altLang="en-US" sz="14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묶다</a:t>
            </a:r>
            <a:r>
              <a:rPr lang="en-US" altLang="ko-KR" sz="14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)</a:t>
            </a:r>
          </a:p>
          <a:p>
            <a:pPr algn="ctr" latinLnBrk="0">
              <a:lnSpc>
                <a:spcPct val="150000"/>
              </a:lnSpc>
              <a:spcBef>
                <a:spcPts val="1000"/>
              </a:spcBef>
            </a:pPr>
            <a:r>
              <a:rPr lang="ko-KR" altLang="en-US" sz="15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두 끝을 하나로 묶어내는 리본</a:t>
            </a:r>
            <a:r>
              <a:rPr lang="en-US" altLang="ko-KR" sz="15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!</a:t>
            </a:r>
            <a:br>
              <a:rPr lang="en-US" altLang="ko-KR" sz="15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</a:br>
            <a:r>
              <a:rPr lang="ko-KR" altLang="en-US" sz="15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시간이 서로를 향해 이어지는 순간을 조형적으로 표현</a:t>
            </a:r>
            <a:r>
              <a:rPr lang="ko-KR" altLang="en-US" sz="15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한 디자인입니다</a:t>
            </a:r>
            <a:r>
              <a:rPr lang="en-US" altLang="ko-KR" sz="15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.</a:t>
            </a:r>
            <a: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</a:p>
          <a:p>
            <a:pPr algn="ctr" latinLnBrk="0">
              <a:lnSpc>
                <a:spcPct val="150000"/>
              </a:lnSpc>
            </a:pPr>
            <a:endParaRPr lang="en-US" altLang="ko-KR" sz="15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</a:pP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지금의 나를 </a:t>
            </a:r>
            <a:r>
              <a:rPr lang="ko-KR" altLang="en-US" sz="15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이루어온</a:t>
            </a: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기억들과 앞으로 나아가고자 하는 의지를</a:t>
            </a:r>
            <a:b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하나의 매듭으로 감아 올리고</a:t>
            </a:r>
            <a: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b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컬렉션의 중심에 자리한 다이아몬드는 이 매듭을 붙들어주는 변치 않는 축처럼 존재합니다</a:t>
            </a:r>
            <a: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algn="ctr" latinLnBrk="0">
              <a:lnSpc>
                <a:spcPct val="150000"/>
              </a:lnSpc>
            </a:pPr>
            <a:endParaRPr lang="en-US" altLang="ko-KR" sz="15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 latinLnBrk="0">
              <a:lnSpc>
                <a:spcPct val="150000"/>
              </a:lnSpc>
            </a:pP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연결된 곡선과 응축된 빛이 만나 완성되는 </a:t>
            </a:r>
            <a: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‘</a:t>
            </a: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연결의 조형</a:t>
            </a:r>
            <a: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’</a:t>
            </a:r>
          </a:p>
          <a:p>
            <a:pPr algn="ctr" latinLnBrk="0">
              <a:lnSpc>
                <a:spcPct val="150000"/>
              </a:lnSpc>
            </a:pPr>
            <a:r>
              <a:rPr lang="ko-KR" altLang="en-US" sz="1500" b="1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에르바운드</a:t>
            </a:r>
            <a:r>
              <a:rPr lang="ko-KR" altLang="en-US" sz="15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컬렉션</a:t>
            </a:r>
            <a:r>
              <a:rPr lang="ko-KR" altLang="en-US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입니다</a:t>
            </a:r>
            <a:r>
              <a:rPr lang="en-US" altLang="ko-KR" sz="1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7620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2AB">
            <a:alpha val="5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E1C763-FA54-9AEB-4283-C0E144157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A93821-8BE7-551C-BABA-4B37A7A3651D}"/>
              </a:ext>
            </a:extLst>
          </p:cNvPr>
          <p:cNvSpPr txBox="1"/>
          <p:nvPr/>
        </p:nvSpPr>
        <p:spPr>
          <a:xfrm>
            <a:off x="3703637" y="1092796"/>
            <a:ext cx="4784725" cy="835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Heirbound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Collection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과거와 미래가 엮여 하나의 빛이 되는 순간</a:t>
            </a:r>
            <a:endParaRPr lang="ko-KR" alt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229844-CACE-4C71-CF30-CC08A8344075}"/>
              </a:ext>
            </a:extLst>
          </p:cNvPr>
          <p:cNvSpPr txBox="1"/>
          <p:nvPr/>
        </p:nvSpPr>
        <p:spPr>
          <a:xfrm>
            <a:off x="2370931" y="5296754"/>
            <a:ext cx="7450138" cy="697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  <a:spcBef>
                <a:spcPts val="1000"/>
              </a:spcBef>
            </a:pPr>
            <a:r>
              <a:rPr lang="ko-KR" altLang="en-US" sz="14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시간과 시간이 만나는 </a:t>
            </a:r>
            <a:r>
              <a:rPr lang="en-US" altLang="ko-KR" sz="14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‘</a:t>
            </a:r>
            <a:r>
              <a:rPr lang="ko-KR" altLang="en-US" sz="14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매듭</a:t>
            </a:r>
            <a:r>
              <a:rPr lang="en-US" altLang="ko-KR" sz="14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’ </a:t>
            </a:r>
            <a:br>
              <a:rPr lang="en-US" altLang="ko-KR" sz="14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</a:br>
            <a:r>
              <a:rPr lang="ko-KR" altLang="en-US" sz="14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깊고 조용한 </a:t>
            </a:r>
            <a:r>
              <a:rPr lang="en-US" altLang="ko-KR" sz="14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‘</a:t>
            </a:r>
            <a:r>
              <a:rPr lang="ko-KR" altLang="en-US" sz="14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연결</a:t>
            </a:r>
            <a:r>
              <a:rPr lang="en-US" altLang="ko-KR" sz="14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’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30D0597-7B39-3475-087C-DB3A0A20A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76" t="30972" r="18525" b="31667"/>
          <a:stretch>
            <a:fillRect/>
          </a:stretch>
        </p:blipFill>
        <p:spPr>
          <a:xfrm>
            <a:off x="6852371" y="2093379"/>
            <a:ext cx="3013546" cy="259821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97FCC28-BC70-447C-0171-37EC420D66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6083" y="1707672"/>
            <a:ext cx="2755107" cy="344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3241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2AB">
            <a:alpha val="5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1732A1-F8D1-99FC-F396-C0C48D93E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90FB95F-B24B-DB14-9362-E5829E2E5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-533400"/>
            <a:ext cx="51435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21E975-59A8-7BB0-A7F3-710D4A5602A4}"/>
              </a:ext>
            </a:extLst>
          </p:cNvPr>
          <p:cNvSpPr txBox="1"/>
          <p:nvPr/>
        </p:nvSpPr>
        <p:spPr>
          <a:xfrm>
            <a:off x="3703637" y="1092796"/>
            <a:ext cx="4784725" cy="835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Heirbound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Collection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과거와 미래가 엮여 하나의 빛이 되는 순간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E00B7B-08D2-0D20-21D1-251BC7DAFDB5}"/>
              </a:ext>
            </a:extLst>
          </p:cNvPr>
          <p:cNvSpPr txBox="1"/>
          <p:nvPr/>
        </p:nvSpPr>
        <p:spPr>
          <a:xfrm>
            <a:off x="2370931" y="5296754"/>
            <a:ext cx="7450138" cy="697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시간과 시간이 만나는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‘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매듭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’ </a:t>
            </a:r>
            <a:b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</a:b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깊고 조용한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‘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연결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’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D8925FA-F5B0-9A4E-6557-B1B6DCFA60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37" t="41011" r="29290" b="38939"/>
          <a:stretch>
            <a:fillRect/>
          </a:stretch>
        </p:blipFill>
        <p:spPr>
          <a:xfrm>
            <a:off x="1110428" y="2687929"/>
            <a:ext cx="1633594" cy="112922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F938F49-1B3A-A787-A3DD-83A4984381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37" t="41011" r="29290" b="38939"/>
          <a:stretch>
            <a:fillRect/>
          </a:stretch>
        </p:blipFill>
        <p:spPr>
          <a:xfrm>
            <a:off x="2179637" y="2953188"/>
            <a:ext cx="1524000" cy="105346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29344F8-7A66-5A49-349E-0B6D5F130A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46" t="32682" r="28686" b="38197"/>
          <a:stretch>
            <a:fillRect/>
          </a:stretch>
        </p:blipFill>
        <p:spPr>
          <a:xfrm>
            <a:off x="8764337" y="2072472"/>
            <a:ext cx="2317235" cy="216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549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2A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477409-1017-38C0-13C4-1137E947A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2C83F8-DD6A-8474-4444-79884B413A6C}"/>
              </a:ext>
            </a:extLst>
          </p:cNvPr>
          <p:cNvSpPr txBox="1"/>
          <p:nvPr/>
        </p:nvSpPr>
        <p:spPr>
          <a:xfrm>
            <a:off x="2023665" y="878612"/>
            <a:ext cx="8144669" cy="3166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dirty="0"/>
              <a:t>CONCORE Collection</a:t>
            </a:r>
          </a:p>
          <a:p>
            <a:pPr algn="ctr">
              <a:lnSpc>
                <a:spcPct val="150000"/>
              </a:lnSpc>
            </a:pPr>
            <a:r>
              <a:rPr lang="en-US" altLang="ko-KR" sz="1500" dirty="0"/>
              <a:t>Concord(</a:t>
            </a:r>
            <a:r>
              <a:rPr lang="ko-KR" altLang="en-US" sz="1500" dirty="0" err="1"/>
              <a:t>화합</a:t>
            </a:r>
            <a:r>
              <a:rPr lang="ko-KR" altLang="en-US" sz="1500" dirty="0" err="1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ᆞ일치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) + Core(</a:t>
            </a:r>
            <a:r>
              <a:rPr lang="ko-KR" altLang="en-US" sz="1500" dirty="0" err="1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핵심</a:t>
            </a:r>
            <a:r>
              <a:rPr lang="ko-KR" altLang="en-US" sz="1500" dirty="0" err="1">
                <a:latin typeface="맑은 고딕" panose="020B0503020000020004" pitchFamily="50" charset="-127"/>
                <a:sym typeface="Wingdings" panose="05000000000000000000" pitchFamily="2" charset="2"/>
              </a:rPr>
              <a:t>ᆞ</a:t>
            </a:r>
            <a:r>
              <a:rPr lang="ko-KR" altLang="en-US" sz="1500" dirty="0">
                <a:latin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중심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) = </a:t>
            </a:r>
            <a:r>
              <a:rPr lang="ko-KR" altLang="en-US" sz="1500" dirty="0" err="1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콩코르</a:t>
            </a:r>
            <a:endParaRPr lang="en-US" altLang="ko-KR" sz="1500" dirty="0"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  <a:p>
            <a:pPr algn="ctr" latinLnBrk="0">
              <a:lnSpc>
                <a:spcPct val="150000"/>
              </a:lnSpc>
              <a:spcBef>
                <a:spcPts val="1000"/>
              </a:spcBef>
            </a:pPr>
            <a:endParaRPr lang="en-US" altLang="ko-KR" sz="1400" dirty="0"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  <a:p>
            <a:pPr algn="ctr" latinLnBrk="0">
              <a:lnSpc>
                <a:spcPct val="150000"/>
              </a:lnSpc>
              <a:spcBef>
                <a:spcPts val="1000"/>
              </a:spcBef>
            </a:pPr>
            <a:r>
              <a:rPr lang="ko-KR" altLang="en-US" sz="1500" dirty="0"/>
              <a:t>마음과 요소가 조용히 맞닿는 조화로운 일치</a:t>
            </a:r>
            <a:br>
              <a:rPr lang="en-US" altLang="ko-KR" sz="15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</a:br>
            <a:r>
              <a:rPr lang="ko-KR" altLang="en-US" sz="15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서로 다른 마음이 각자의 결을 지닌 채 나란히 놓이는 순간</a:t>
            </a:r>
            <a:r>
              <a:rPr lang="en-US" altLang="ko-KR" sz="15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,</a:t>
            </a:r>
            <a:br>
              <a:rPr lang="en-US" altLang="ko-KR" sz="15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</a:br>
            <a:r>
              <a:rPr lang="ko-KR" altLang="en-US" sz="1500" b="1" dirty="0" err="1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콩코르</a:t>
            </a:r>
            <a:r>
              <a:rPr lang="ko-KR" altLang="en-US" sz="15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 컬렉션</a:t>
            </a:r>
            <a:r>
              <a:rPr lang="ko-KR" altLang="en-US" sz="15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은 관계의 중심에서 맞닿는 </a:t>
            </a:r>
            <a:r>
              <a:rPr lang="ko-KR" altLang="en-US" sz="1500" b="1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조화로운 일치를 의미</a:t>
            </a:r>
            <a:r>
              <a:rPr lang="ko-KR" altLang="en-US" sz="15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합니다</a:t>
            </a:r>
            <a:r>
              <a:rPr lang="en-US" altLang="ko-KR" sz="15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.</a:t>
            </a:r>
            <a:br>
              <a:rPr lang="en-US" altLang="ko-KR" sz="15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</a:br>
            <a:br>
              <a:rPr lang="en-US" altLang="ko-KR" sz="1500" dirty="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</a:br>
            <a:endParaRPr lang="en-US" altLang="ko-KR" sz="15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FCBF28-1709-F7DF-B89C-0BB4BB4A802B}"/>
              </a:ext>
            </a:extLst>
          </p:cNvPr>
          <p:cNvSpPr txBox="1"/>
          <p:nvPr/>
        </p:nvSpPr>
        <p:spPr>
          <a:xfrm>
            <a:off x="809625" y="4045120"/>
            <a:ext cx="10915650" cy="143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dirty="0">
                <a:latin typeface="+mn-ea"/>
              </a:rPr>
              <a:t>* 특수 제작 공법</a:t>
            </a:r>
            <a:r>
              <a:rPr lang="en-US" altLang="ko-KR" sz="1500" dirty="0">
                <a:latin typeface="+mn-ea"/>
              </a:rPr>
              <a:t>: </a:t>
            </a:r>
            <a:r>
              <a:rPr lang="ko-KR" altLang="en-US" sz="1500" dirty="0">
                <a:latin typeface="+mn-ea"/>
              </a:rPr>
              <a:t>서로 다른 색상</a:t>
            </a:r>
            <a:r>
              <a:rPr lang="en-US" altLang="ko-KR" sz="1500" dirty="0">
                <a:latin typeface="+mn-ea"/>
              </a:rPr>
              <a:t>(YG, PG, BG, WE)</a:t>
            </a:r>
            <a:r>
              <a:rPr lang="ko-KR" altLang="en-US" sz="1500" dirty="0">
                <a:latin typeface="+mn-ea"/>
              </a:rPr>
              <a:t>의 골드를 진공 상태에서 융점까지 가열하여 압축하는</a:t>
            </a:r>
            <a:br>
              <a:rPr lang="ko-KR" altLang="en-US" sz="1500" dirty="0">
                <a:latin typeface="+mn-ea"/>
              </a:rPr>
            </a:br>
            <a:r>
              <a:rPr lang="ko-KR" altLang="en-US" sz="1500" dirty="0">
                <a:latin typeface="+mn-ea"/>
              </a:rPr>
              <a:t>  “진공 가열 압축“ 방식이라는 특별한 방식으로 제작됩니다</a:t>
            </a:r>
            <a:r>
              <a:rPr lang="en-US" altLang="ko-KR" sz="1500" dirty="0">
                <a:latin typeface="+mn-ea"/>
              </a:rPr>
              <a:t>.</a:t>
            </a:r>
            <a:br>
              <a:rPr lang="en-US" altLang="ko-KR" sz="1500" dirty="0">
                <a:latin typeface="+mn-ea"/>
              </a:rPr>
            </a:br>
            <a:r>
              <a:rPr lang="en-US" altLang="ko-KR" sz="1500" dirty="0">
                <a:latin typeface="+mn-ea"/>
              </a:rPr>
              <a:t>  </a:t>
            </a:r>
            <a:r>
              <a:rPr lang="ko-KR" altLang="en-US" sz="1500" dirty="0">
                <a:latin typeface="+mn-ea"/>
              </a:rPr>
              <a:t>특정 독일 회사에서 가능하였던 방식을 </a:t>
            </a:r>
            <a:r>
              <a:rPr lang="ko-KR" altLang="en-US" sz="1500" dirty="0" err="1">
                <a:latin typeface="+mn-ea"/>
              </a:rPr>
              <a:t>디에르가</a:t>
            </a:r>
            <a:r>
              <a:rPr lang="ko-KR" altLang="en-US" sz="1500" dirty="0">
                <a:latin typeface="+mn-ea"/>
              </a:rPr>
              <a:t> 국내 최초로 만들어 내었습니다</a:t>
            </a:r>
            <a:r>
              <a:rPr lang="en-US" altLang="ko-KR" sz="1500" dirty="0">
                <a:latin typeface="+mn-ea"/>
              </a:rPr>
              <a:t>.</a:t>
            </a:r>
            <a:br>
              <a:rPr lang="en-US" altLang="ko-KR" sz="1500" dirty="0">
                <a:latin typeface="+mn-ea"/>
              </a:rPr>
            </a:br>
            <a:r>
              <a:rPr lang="en-US" altLang="ko-KR" sz="1500" dirty="0">
                <a:latin typeface="+mn-ea"/>
              </a:rPr>
              <a:t>  </a:t>
            </a:r>
            <a:r>
              <a:rPr lang="ko-KR" altLang="en-US" sz="1500" dirty="0">
                <a:latin typeface="+mn-ea"/>
              </a:rPr>
              <a:t>특수 열처리 방식을 통해 </a:t>
            </a:r>
            <a:r>
              <a:rPr lang="ko-KR" altLang="en-US" sz="1500" dirty="0" err="1">
                <a:latin typeface="+mn-ea"/>
              </a:rPr>
              <a:t>근밀한</a:t>
            </a:r>
            <a:r>
              <a:rPr lang="ko-KR" altLang="en-US" sz="1500" dirty="0">
                <a:latin typeface="+mn-ea"/>
              </a:rPr>
              <a:t> 금속조직이 형성되어 묵직한 </a:t>
            </a:r>
            <a:r>
              <a:rPr lang="ko-KR" altLang="en-US" sz="1500" dirty="0" err="1">
                <a:latin typeface="+mn-ea"/>
              </a:rPr>
              <a:t>무게감</a:t>
            </a:r>
            <a:r>
              <a:rPr lang="en-US" altLang="ko-KR" sz="1500" dirty="0">
                <a:latin typeface="+mn-ea"/>
              </a:rPr>
              <a:t>,</a:t>
            </a:r>
            <a:r>
              <a:rPr lang="ko-KR" altLang="en-US" sz="1500" dirty="0">
                <a:latin typeface="+mn-ea"/>
              </a:rPr>
              <a:t> 단단함과 </a:t>
            </a:r>
            <a:r>
              <a:rPr lang="ko-KR" altLang="en-US" sz="1500" dirty="0" err="1">
                <a:latin typeface="+mn-ea"/>
              </a:rPr>
              <a:t>그라데이션의</a:t>
            </a:r>
            <a:r>
              <a:rPr lang="ko-KR" altLang="en-US" sz="1500" dirty="0">
                <a:latin typeface="+mn-ea"/>
              </a:rPr>
              <a:t> 색감을 느낄 수 있습니다</a:t>
            </a:r>
            <a:r>
              <a:rPr lang="en-US" altLang="ko-KR" sz="1500" dirty="0">
                <a:latin typeface="+mn-ea"/>
              </a:rPr>
              <a:t>.</a:t>
            </a:r>
            <a:endParaRPr lang="ko-KR" altLang="en-US" sz="15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1342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2AB">
            <a:alpha val="5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C34B9B-DFCB-249D-7906-0466864B2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FCDE8E-0776-F82A-19D9-9E14157CF992}"/>
              </a:ext>
            </a:extLst>
          </p:cNvPr>
          <p:cNvSpPr txBox="1"/>
          <p:nvPr/>
        </p:nvSpPr>
        <p:spPr>
          <a:xfrm>
            <a:off x="3716753" y="600444"/>
            <a:ext cx="4784725" cy="835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CONCORE Collection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마음과 요소가 조용히 맞닿는 조화로운 일치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73F400-9BBE-5810-DD51-2498D516DE9B}"/>
              </a:ext>
            </a:extLst>
          </p:cNvPr>
          <p:cNvSpPr txBox="1"/>
          <p:nvPr/>
        </p:nvSpPr>
        <p:spPr>
          <a:xfrm>
            <a:off x="777872" y="5582102"/>
            <a:ext cx="4944269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"/>
            </a:pPr>
            <a:r>
              <a:rPr lang="en-US" altLang="ko-KR" sz="1100" dirty="0"/>
              <a:t>Pink Gold — </a:t>
            </a:r>
            <a:r>
              <a:rPr lang="ko-KR" altLang="en-US" sz="1100" dirty="0"/>
              <a:t>사랑 </a:t>
            </a:r>
            <a:r>
              <a:rPr lang="en-US" altLang="ko-KR" sz="1100" dirty="0"/>
              <a:t>(Love)</a:t>
            </a:r>
            <a:br>
              <a:rPr lang="ko-KR" altLang="en-US" sz="1100" dirty="0"/>
            </a:br>
            <a:r>
              <a:rPr lang="ko-KR" altLang="en-US" sz="1100" dirty="0"/>
              <a:t>감정의 시작이자 관계를 향한 가장 개인적인 선택</a:t>
            </a:r>
            <a:endParaRPr lang="en-US" altLang="ko-KR" sz="1100" dirty="0"/>
          </a:p>
          <a:p>
            <a:pPr marL="285750" indent="-285750">
              <a:buFont typeface="Wingdings" panose="05000000000000000000" pitchFamily="2" charset="2"/>
              <a:buChar char=""/>
            </a:pPr>
            <a:endParaRPr lang="en-US" altLang="ko-KR" sz="1100" dirty="0"/>
          </a:p>
          <a:p>
            <a:pPr marL="285750" indent="-285750">
              <a:buFont typeface="Wingdings" panose="05000000000000000000" pitchFamily="2" charset="2"/>
              <a:buChar char=""/>
            </a:pPr>
            <a:r>
              <a:rPr lang="en-US" altLang="ko-KR" sz="1100" dirty="0"/>
              <a:t>White Gold — </a:t>
            </a:r>
            <a:r>
              <a:rPr lang="ko-KR" altLang="en-US" sz="1100" dirty="0"/>
              <a:t>우정 </a:t>
            </a:r>
            <a:r>
              <a:rPr lang="en-US" altLang="ko-KR" sz="1100" dirty="0"/>
              <a:t>(Friendship)</a:t>
            </a:r>
            <a:br>
              <a:rPr lang="ko-KR" altLang="en-US" sz="1100" dirty="0"/>
            </a:br>
            <a:r>
              <a:rPr lang="ko-KR" altLang="en-US" sz="1100" dirty="0"/>
              <a:t>균형과 신뢰를 바탕으로 나란히 서는 관계의 맑은 기준</a:t>
            </a:r>
            <a:endParaRPr lang="en-US" altLang="ko-KR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5D4AD6-63F2-581F-ACBC-9E696B5ADFF3}"/>
              </a:ext>
            </a:extLst>
          </p:cNvPr>
          <p:cNvSpPr txBox="1"/>
          <p:nvPr/>
        </p:nvSpPr>
        <p:spPr>
          <a:xfrm>
            <a:off x="6780574" y="5582101"/>
            <a:ext cx="4784725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"/>
              <a:tabLst/>
              <a:defRPr/>
            </a:pP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Yellow Gold — </a:t>
            </a: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신의 </a:t>
            </a: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(Faith)</a:t>
            </a:r>
            <a:b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시간이 지나도 흔들리지 않는 약속과 확신의 중심</a:t>
            </a:r>
            <a:endParaRPr kumimoji="0" lang="en-US" altLang="ko-KR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"/>
              <a:tabLst/>
              <a:defRPr/>
            </a:pP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Beige Gold — </a:t>
            </a: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배려 </a:t>
            </a: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(Consideration)</a:t>
            </a:r>
            <a:b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오랜 관계를 위해 자연스럽게 한 걸음 물러서는 태도</a:t>
            </a:r>
            <a:endParaRPr kumimoji="0" lang="en-US" altLang="ko-KR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FB23516-7C6F-0CB5-5CDD-22C8558BE9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80" t="13332" r="9023" b="18856"/>
          <a:stretch>
            <a:fillRect/>
          </a:stretch>
        </p:blipFill>
        <p:spPr>
          <a:xfrm>
            <a:off x="371474" y="1975407"/>
            <a:ext cx="2632490" cy="155165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7D6E4E8-88A1-A857-76D0-94E347B15C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86" t="8034" r="13305" b="22662"/>
          <a:stretch>
            <a:fillRect/>
          </a:stretch>
        </p:blipFill>
        <p:spPr>
          <a:xfrm>
            <a:off x="6553203" y="1880795"/>
            <a:ext cx="2381249" cy="15482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C6E54C-50ED-CACB-717B-9673248872FF}"/>
              </a:ext>
            </a:extLst>
          </p:cNvPr>
          <p:cNvSpPr txBox="1"/>
          <p:nvPr/>
        </p:nvSpPr>
        <p:spPr>
          <a:xfrm>
            <a:off x="581772" y="3846206"/>
            <a:ext cx="4784725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Lever –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르베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(</a:t>
            </a:r>
            <a:r>
              <a:rPr lang="ko-KR" altLang="en-US" sz="14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옐로우</a:t>
            </a:r>
            <a:r>
              <a:rPr lang="en-US" altLang="ko-KR" sz="14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+</a:t>
            </a:r>
            <a:r>
              <a:rPr lang="ko-KR" altLang="en-US" sz="14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베이지</a:t>
            </a:r>
            <a:r>
              <a:rPr lang="en-US" altLang="ko-KR" sz="14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+</a:t>
            </a:r>
            <a:r>
              <a:rPr lang="ko-KR" altLang="en-US" sz="14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화이트</a:t>
            </a:r>
            <a:r>
              <a:rPr lang="en-US" altLang="ko-KR" sz="14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)</a:t>
            </a:r>
            <a:br>
              <a:rPr lang="en-US" altLang="ko-KR" sz="14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</a:br>
            <a:r>
              <a:rPr lang="ko-KR" altLang="en-US" sz="14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프랑스어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lever</a:t>
            </a:r>
            <a:r>
              <a:rPr lang="ko-KR" altLang="en-US" sz="14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에서 가져온 이름으로</a:t>
            </a:r>
            <a:r>
              <a:rPr lang="en-US" altLang="ko-KR" sz="14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,</a:t>
            </a:r>
            <a:br>
              <a:rPr lang="en-US" altLang="ko-KR" sz="14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</a:br>
            <a:r>
              <a:rPr lang="en-US" altLang="ko-KR" sz="14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au lever du soleil –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해가 떠오르는 순간을 뜻하는 표현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F5CD00-CE95-05E6-3B90-90EB67C2B05E}"/>
              </a:ext>
            </a:extLst>
          </p:cNvPr>
          <p:cNvSpPr txBox="1"/>
          <p:nvPr/>
        </p:nvSpPr>
        <p:spPr>
          <a:xfrm>
            <a:off x="6780573" y="3846206"/>
            <a:ext cx="4784725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Coucher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– </a:t>
            </a:r>
            <a:r>
              <a:rPr lang="ko-KR" altLang="en-US" sz="1400" dirty="0" err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쿠셰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(</a:t>
            </a:r>
            <a:r>
              <a:rPr lang="ko-KR" altLang="en-US" sz="14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핑크</a:t>
            </a:r>
            <a:r>
              <a:rPr lang="en-US" altLang="ko-KR" sz="14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+</a:t>
            </a:r>
            <a:r>
              <a:rPr lang="ko-KR" altLang="en-US" sz="14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베이지</a:t>
            </a:r>
            <a:r>
              <a:rPr lang="en-US" altLang="ko-KR" sz="14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+</a:t>
            </a:r>
            <a:r>
              <a:rPr lang="ko-KR" altLang="en-US" sz="14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화이트</a:t>
            </a:r>
            <a:r>
              <a:rPr lang="en-US" altLang="ko-KR" sz="14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)</a:t>
            </a:r>
            <a:br>
              <a:rPr lang="en-US" altLang="ko-KR" sz="14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</a:br>
            <a:r>
              <a:rPr lang="ko-KR" altLang="en-US" sz="14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프랑스어 </a:t>
            </a:r>
            <a:r>
              <a:rPr lang="en-US" altLang="ko-KR" sz="1400" dirty="0" err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coucher</a:t>
            </a:r>
            <a:r>
              <a:rPr lang="ko-KR" altLang="en-US" sz="14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에서 출발한 이름으로</a:t>
            </a:r>
            <a:r>
              <a:rPr lang="en-US" altLang="ko-KR" sz="14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,</a:t>
            </a:r>
            <a:br>
              <a:rPr lang="en-US" altLang="ko-KR" sz="14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</a:br>
            <a:r>
              <a:rPr lang="en-US" altLang="ko-KR" sz="14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au </a:t>
            </a:r>
            <a:r>
              <a:rPr lang="en-US" altLang="ko-KR" sz="1400" dirty="0" err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coucher</a:t>
            </a:r>
            <a:r>
              <a:rPr lang="en-US" altLang="ko-KR" sz="14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 du soleil –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해가 지는 순간을 의미하는 표현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9C88672-3173-06ED-AEB3-106BD38F13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29" t="35991" r="15328" b="37833"/>
          <a:stretch>
            <a:fillRect/>
          </a:stretch>
        </p:blipFill>
        <p:spPr>
          <a:xfrm>
            <a:off x="3003964" y="2208830"/>
            <a:ext cx="2512598" cy="127953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0866868-3C68-C7C5-7FEA-609460A4A9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1" t="32034" r="6982" b="32966"/>
          <a:stretch>
            <a:fillRect/>
          </a:stretch>
        </p:blipFill>
        <p:spPr>
          <a:xfrm>
            <a:off x="8934452" y="1964381"/>
            <a:ext cx="2886074" cy="157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4781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2A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189764-252C-4281-EB40-36868BC72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44E1EB-118F-CCFB-96DD-0681033EEBF8}"/>
              </a:ext>
            </a:extLst>
          </p:cNvPr>
          <p:cNvSpPr txBox="1"/>
          <p:nvPr/>
        </p:nvSpPr>
        <p:spPr>
          <a:xfrm>
            <a:off x="2023665" y="1412012"/>
            <a:ext cx="8144669" cy="3512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SPIRAL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Collection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  <a:p>
            <a:pPr lvl="0" algn="ctr" latinLnBrk="0">
              <a:lnSpc>
                <a:spcPct val="150000"/>
              </a:lnSpc>
              <a:spcBef>
                <a:spcPts val="1000"/>
              </a:spcBef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확장하는 곡선이 만드는 새로운 질서</a:t>
            </a:r>
            <a:b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</a:br>
            <a:r>
              <a:rPr lang="ko-KR" altLang="en-US" sz="1500" dirty="0">
                <a:solidFill>
                  <a:prstClr val="black"/>
                </a:solidFill>
              </a:rPr>
              <a:t>나선의 </a:t>
            </a:r>
            <a:r>
              <a:rPr lang="ko-KR" altLang="en-US" sz="1500" dirty="0" err="1">
                <a:solidFill>
                  <a:prstClr val="black"/>
                </a:solidFill>
              </a:rPr>
              <a:t>넒어짐은</a:t>
            </a:r>
            <a:r>
              <a:rPr lang="ko-KR" altLang="en-US" sz="1500" dirty="0">
                <a:solidFill>
                  <a:prstClr val="black"/>
                </a:solidFill>
              </a:rPr>
              <a:t> 가능성의 확장을</a:t>
            </a:r>
            <a:r>
              <a:rPr lang="en-US" altLang="ko-KR" sz="1500" dirty="0">
                <a:solidFill>
                  <a:prstClr val="black"/>
                </a:solidFill>
              </a:rPr>
              <a:t>,</a:t>
            </a:r>
            <a:br>
              <a:rPr lang="en-US" altLang="ko-KR" sz="1500" dirty="0">
                <a:solidFill>
                  <a:prstClr val="black"/>
                </a:solidFill>
              </a:rPr>
            </a:br>
            <a:r>
              <a:rPr lang="ko-KR" altLang="en-US" sz="1500" dirty="0">
                <a:solidFill>
                  <a:prstClr val="black"/>
                </a:solidFill>
              </a:rPr>
              <a:t>그 위를 따라 빛나는 다이아몬드는 미래를 향해 밝아지는 궤도를 상징합니다</a:t>
            </a:r>
            <a:r>
              <a:rPr lang="en-US" altLang="ko-KR" sz="1500" dirty="0">
                <a:solidFill>
                  <a:prstClr val="black"/>
                </a:solidFill>
              </a:rPr>
              <a:t>.</a:t>
            </a:r>
            <a:br>
              <a:rPr lang="en-US" altLang="ko-KR" sz="1500" dirty="0">
                <a:solidFill>
                  <a:prstClr val="black"/>
                </a:solidFill>
              </a:rPr>
            </a:br>
            <a:b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스파이럴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컬렉션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은 단순한 곡선의 반복이 아닌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</a:t>
            </a:r>
            <a:b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한 사람이 지나온 시간과 그 시간 속에서 이룬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성장의 흔적을 조형적으로 표현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한</a:t>
            </a:r>
            <a:b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디에르의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하우스 라인입니다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</a:t>
            </a: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7387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2AB">
            <a:alpha val="5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6586C9-C787-6210-B7AE-B38BEBD48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0507D5-0338-6955-B301-AEB5E12B215E}"/>
              </a:ext>
            </a:extLst>
          </p:cNvPr>
          <p:cNvSpPr txBox="1"/>
          <p:nvPr/>
        </p:nvSpPr>
        <p:spPr>
          <a:xfrm>
            <a:off x="3703637" y="1092796"/>
            <a:ext cx="4784725" cy="855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US" altLang="ko-KR" sz="2000" b="1" dirty="0">
                <a:solidFill>
                  <a:prstClr val="black"/>
                </a:solidFill>
              </a:rPr>
              <a:t>SPIRAL Collection</a:t>
            </a:r>
          </a:p>
          <a:p>
            <a:pPr lvl="0" algn="ctr">
              <a:lnSpc>
                <a:spcPct val="150000"/>
              </a:lnSpc>
              <a:defRPr/>
            </a:pPr>
            <a:r>
              <a:rPr lang="ko-KR" altLang="en-US" sz="1400" dirty="0">
                <a:solidFill>
                  <a:prstClr val="black"/>
                </a:solidFill>
              </a:rPr>
              <a:t>확장하는 곡선이 만드는 새로운 질서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5E2CB77-0FBF-3AE7-7449-64A934EA8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55" t="35833" r="6958" b="38055"/>
          <a:stretch>
            <a:fillRect/>
          </a:stretch>
        </p:blipFill>
        <p:spPr>
          <a:xfrm>
            <a:off x="1343024" y="2800350"/>
            <a:ext cx="4049771" cy="165735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632FEBC-DC1A-4984-0095-CA27605572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00" t="39167" r="9764" b="36667"/>
          <a:stretch>
            <a:fillRect/>
          </a:stretch>
        </p:blipFill>
        <p:spPr>
          <a:xfrm>
            <a:off x="6520256" y="2921427"/>
            <a:ext cx="3938194" cy="165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6177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2AB">
            <a:alpha val="5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B7E26C-0C14-BC58-E685-9AE2E144B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7C60A3-73B2-A5A4-E032-F1D253BF3FAD}"/>
              </a:ext>
            </a:extLst>
          </p:cNvPr>
          <p:cNvSpPr txBox="1"/>
          <p:nvPr/>
        </p:nvSpPr>
        <p:spPr>
          <a:xfrm>
            <a:off x="3703637" y="1092796"/>
            <a:ext cx="4784725" cy="855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SPIRAL Collection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확장하는 곡선이 만드는 새로운 질서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97CCE96-BBC6-26B5-DD12-B23D725FF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16" t="34861" r="15928" b="39861"/>
          <a:stretch>
            <a:fillRect/>
          </a:stretch>
        </p:blipFill>
        <p:spPr>
          <a:xfrm>
            <a:off x="989013" y="3028949"/>
            <a:ext cx="2984170" cy="156518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3A7E44C-328D-C6D1-D15D-A28997A87D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0" t="36945" r="15183" b="38889"/>
          <a:stretch>
            <a:fillRect/>
          </a:stretch>
        </p:blipFill>
        <p:spPr>
          <a:xfrm>
            <a:off x="4504838" y="3129769"/>
            <a:ext cx="3105465" cy="146436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85386B2-DE52-C2AB-D27D-2167F135BF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87" t="31111" r="10553" b="39861"/>
          <a:stretch>
            <a:fillRect/>
          </a:stretch>
        </p:blipFill>
        <p:spPr>
          <a:xfrm>
            <a:off x="8218819" y="2876561"/>
            <a:ext cx="3105465" cy="1590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931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E3E42-57A1-893C-4E8A-663ED497D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EAD7659-340D-A516-9908-8E62BD6DA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946" y="2638314"/>
            <a:ext cx="1848108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734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1574</TotalTime>
  <Words>1194</Words>
  <Application>Microsoft Office PowerPoint</Application>
  <PresentationFormat>와이드스크린</PresentationFormat>
  <Paragraphs>191</Paragraphs>
  <Slides>23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9" baseType="lpstr">
      <vt:lpstr>Pretendard Light</vt:lpstr>
      <vt:lpstr>Pretendard Variable Black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예진 전</dc:creator>
  <cp:lastModifiedBy>예진 전</cp:lastModifiedBy>
  <cp:revision>60</cp:revision>
  <cp:lastPrinted>2026-06-08T04:50:40Z</cp:lastPrinted>
  <dcterms:created xsi:type="dcterms:W3CDTF">2026-05-07T01:43:16Z</dcterms:created>
  <dcterms:modified xsi:type="dcterms:W3CDTF">2026-06-29T05:24:49Z</dcterms:modified>
</cp:coreProperties>
</file>