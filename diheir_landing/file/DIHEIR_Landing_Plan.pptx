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B8965A"/>
          </a:solidFill>
          <a:ln w="12700">
            <a:solidFill>
              <a:srgbClr val="B896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91440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600" b="1" spc="12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DIHEIR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D4B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랜딩 페이지 기획서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3200400" cy="0"/>
          </a:xfrm>
          <a:prstGeom prst="line">
            <a:avLst/>
          </a:prstGeom>
          <a:noFill/>
          <a:ln w="19050">
            <a:solidFill>
              <a:srgbClr val="B896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514600"/>
            <a:ext cx="8046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D4B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목적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상담 신청 DB 수집 + 고객 후킹 전환 최적화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D4B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플랫폼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Makeshop (dorocy.co.kr/m/page.html?id=10000)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D4B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연동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Google Forms → 실시간 DB 수집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4462272"/>
            <a:ext cx="8046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도로시 (주식회사 보석같은사람들)  ·  청담점  ·  ver 1.0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89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STRUCTURE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25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페이지 섹션 구성 및 목적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078992"/>
            <a:ext cx="26517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9BC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21208" y="1170432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89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1170432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2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히어로 (HERO)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21208" y="1499616"/>
            <a:ext cx="24505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B5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Vimeo 영상 배경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B5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"단 하나의 다이아몬드" 카피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B5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VIP 상담 신청 CTA 버튼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21208" y="1965960"/>
            <a:ext cx="777240" cy="237744"/>
          </a:xfrm>
          <a:prstGeom prst="roundRect">
            <a:avLst>
              <a:gd name="adj" fmla="val 19231"/>
            </a:avLst>
          </a:prstGeom>
          <a:solidFill>
            <a:srgbClr val="B8965A"/>
          </a:solidFill>
          <a:ln w="12700">
            <a:solidFill>
              <a:srgbClr val="B896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1208" y="1984248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후킹 진입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46120" y="1078992"/>
            <a:ext cx="26517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9BC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355848" y="1170432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89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749040" y="1170432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2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마퀴 배너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55848" y="1499616"/>
            <a:ext cx="24505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B5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혜택·인증 키워드 좌→우 스크롤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B5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골드 배경 신뢰 강화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355848" y="1965960"/>
            <a:ext cx="777240" cy="237744"/>
          </a:xfrm>
          <a:prstGeom prst="roundRect">
            <a:avLst>
              <a:gd name="adj" fmla="val 19231"/>
            </a:avLst>
          </a:prstGeom>
          <a:solidFill>
            <a:srgbClr val="C47E17"/>
          </a:solidFill>
          <a:ln w="12700">
            <a:solidFill>
              <a:srgbClr val="C47E1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55848" y="1984248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신뢰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080760" y="1078992"/>
            <a:ext cx="26517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9BC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190488" y="1170432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89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583680" y="1170432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2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브랜드 스토리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190488" y="1499616"/>
            <a:ext cx="24505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B5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tree.png 배경 워터마크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B5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올리브 나무 헤리티지 컨셉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B5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통계 카운터 (누적 상담 3,200건)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190488" y="1965960"/>
            <a:ext cx="777240" cy="237744"/>
          </a:xfrm>
          <a:prstGeom prst="roundRect">
            <a:avLst>
              <a:gd name="adj" fmla="val 19231"/>
            </a:avLst>
          </a:prstGeom>
          <a:solidFill>
            <a:srgbClr val="6B5F53"/>
          </a:solidFill>
          <a:ln w="12700">
            <a:solidFill>
              <a:srgbClr val="6B5F5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90488" y="1984248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공감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11480" y="2432304"/>
            <a:ext cx="26517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9BC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21208" y="2523744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89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14400" y="2523744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2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4대 혜택 카드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21208" y="2852928"/>
            <a:ext cx="24505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B5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GIA·IGI / 명장세공 / 평생AS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B5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커스터마이징 아이콘 카드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21208" y="3319272"/>
            <a:ext cx="777240" cy="237744"/>
          </a:xfrm>
          <a:prstGeom prst="roundRect">
            <a:avLst>
              <a:gd name="adj" fmla="val 19231"/>
            </a:avLst>
          </a:prstGeom>
          <a:solidFill>
            <a:srgbClr val="C47E17"/>
          </a:solidFill>
          <a:ln w="12700">
            <a:solidFill>
              <a:srgbClr val="C47E1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21208" y="3337560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신뢰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246120" y="2432304"/>
            <a:ext cx="26517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9BC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3355848" y="2523744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89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3749040" y="2523744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2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혜택 아코디언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355848" y="2852928"/>
            <a:ext cx="24505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B5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시크릿 혜택 5종 (만료일 표기)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B5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클릭 시 상세 펼침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355848" y="3319272"/>
            <a:ext cx="777240" cy="237744"/>
          </a:xfrm>
          <a:prstGeom prst="roundRect">
            <a:avLst>
              <a:gd name="adj" fmla="val 19231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55848" y="3337560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후킹+긴급성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080760" y="2432304"/>
            <a:ext cx="26517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9BC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6190488" y="2523744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89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6583680" y="2523744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2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제작 이미지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190488" y="2852928"/>
            <a:ext cx="24505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B5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ex01 명인의 세공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B5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ex02 다이아몬드 인증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190488" y="3319272"/>
            <a:ext cx="777240" cy="237744"/>
          </a:xfrm>
          <a:prstGeom prst="roundRect">
            <a:avLst>
              <a:gd name="adj" fmla="val 19231"/>
            </a:avLst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190488" y="3337560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설득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11480" y="3785616"/>
            <a:ext cx="26517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9BC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521208" y="3877056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89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914400" y="3877056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2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커스터마이징 영상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21208" y="4206240"/>
            <a:ext cx="24505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B5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Vimeo 자동 루프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B5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순백 배경으로 강조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21208" y="4672584"/>
            <a:ext cx="777240" cy="237744"/>
          </a:xfrm>
          <a:prstGeom prst="roundRect">
            <a:avLst>
              <a:gd name="adj" fmla="val 19231"/>
            </a:avLst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21208" y="4690872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경험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246120" y="3785616"/>
            <a:ext cx="26517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9BC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3355848" y="3877056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89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1800" dirty="0"/>
          </a:p>
        </p:txBody>
      </p:sp>
      <p:sp>
        <p:nvSpPr>
          <p:cNvPr id="48" name="Text 46"/>
          <p:cNvSpPr/>
          <p:nvPr/>
        </p:nvSpPr>
        <p:spPr>
          <a:xfrm>
            <a:off x="3749040" y="3877056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2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청담 쇼룸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3355848" y="4206240"/>
            <a:ext cx="24505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B5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store.jpg 배경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B5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네이버 예약 연동 버튼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3355848" y="4672584"/>
            <a:ext cx="777240" cy="237744"/>
          </a:xfrm>
          <a:prstGeom prst="roundRect">
            <a:avLst>
              <a:gd name="adj" fmla="val 19231"/>
            </a:avLst>
          </a:prstGeom>
          <a:solidFill>
            <a:srgbClr val="B8965A"/>
          </a:solidFill>
          <a:ln w="12700">
            <a:solidFill>
              <a:srgbClr val="B8965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355848" y="4690872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행동유도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6080760" y="3785616"/>
            <a:ext cx="26517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9BC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6190488" y="3877056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89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1800" dirty="0"/>
          </a:p>
        </p:txBody>
      </p:sp>
      <p:sp>
        <p:nvSpPr>
          <p:cNvPr id="54" name="Text 52"/>
          <p:cNvSpPr/>
          <p:nvPr/>
        </p:nvSpPr>
        <p:spPr>
          <a:xfrm>
            <a:off x="6583680" y="3877056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2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혜택 재노출 + 상담 폼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6190488" y="4206240"/>
            <a:ext cx="24505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B5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신청 직전 혜택 재확인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B5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이름·전화 필수 / 버튼 탭 선택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B5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Forms 직접 전송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6190488" y="4672584"/>
            <a:ext cx="777240" cy="237744"/>
          </a:xfrm>
          <a:prstGeom prst="roundRect">
            <a:avLst>
              <a:gd name="adj" fmla="val 19231"/>
            </a:avLst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190488" y="4690872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전환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89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FIELDS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25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상담 신청 폼 — 수집 항목 및 연동 방식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115568"/>
            <a:ext cx="8412480" cy="329184"/>
          </a:xfrm>
          <a:prstGeom prst="rect">
            <a:avLst/>
          </a:prstGeom>
          <a:solidFill>
            <a:srgbClr val="2A2520"/>
          </a:solidFill>
          <a:ln w="12700">
            <a:solidFill>
              <a:srgbClr val="2A25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15214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항목명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664208" y="115214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Forms entry ID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94176" y="115214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입력 방식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175504" y="1152144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필수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696712" y="1152144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검증·옵션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1444752"/>
            <a:ext cx="841248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E8D9B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499616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2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성함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664208" y="1499616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9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entry.1781280018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694176" y="1499616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텍스트 입력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175504" y="1499616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696712" y="1499616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한글 입력 기본값 / 필수 공란 차단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1956816"/>
            <a:ext cx="8412480" cy="493776"/>
          </a:xfrm>
          <a:prstGeom prst="rect">
            <a:avLst/>
          </a:prstGeom>
          <a:solidFill>
            <a:srgbClr val="F7F3ED"/>
          </a:solidFill>
          <a:ln w="6350">
            <a:solidFill>
              <a:srgbClr val="E8D9B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01168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2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연락처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664208" y="201168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9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entry.1672599391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694176" y="201168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숫자 자동 하이픈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175504" y="201168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696712" y="2011680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010-XXXX-XXXX / 10~11자리 미달 시 차단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2468880"/>
            <a:ext cx="841248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E8D9B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2523744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2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유입 경로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664208" y="2523744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9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entry.663394179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3694176" y="252374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버튼 탭 선택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175504" y="2523744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8E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696712" y="2523744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인스타그램 / 네이버 검색 / 지인 추천 / 도로시 쇼핑몰 / 기타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5760" y="2980944"/>
            <a:ext cx="8412480" cy="493776"/>
          </a:xfrm>
          <a:prstGeom prst="rect">
            <a:avLst/>
          </a:prstGeom>
          <a:solidFill>
            <a:srgbClr val="F7F3ED"/>
          </a:solidFill>
          <a:ln w="6350">
            <a:solidFill>
              <a:srgbClr val="E8D9B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303580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2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관심 카테고리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664208" y="303580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9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entry.1832948341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3694176" y="303580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버튼 탭 선택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175504" y="3035808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8E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696712" y="3035808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반지·프로포즈 / 목걸이 / 귀걸이 / 팔찌 / 커스터마이징 / 선물용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65760" y="3493008"/>
            <a:ext cx="841248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E8D9B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3547872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2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예산 범위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664208" y="354787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9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entry.1465868753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3694176" y="354787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버튼 탭 선택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175504" y="3547872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8E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696712" y="3547872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50만원 미만 ~ 500만원 이상 / 논의 후 결정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65760" y="4005072"/>
            <a:ext cx="8412480" cy="493776"/>
          </a:xfrm>
          <a:prstGeom prst="rect">
            <a:avLst/>
          </a:prstGeom>
          <a:solidFill>
            <a:srgbClr val="F7F3ED"/>
          </a:solidFill>
          <a:ln w="6350">
            <a:solidFill>
              <a:srgbClr val="E8D9B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5760" y="4059936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2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개인정보 동의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1664208" y="4059936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9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entry.1729764588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3694176" y="4059936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체크박스 필수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175504" y="4059936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696712" y="4059936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미동의 시 제출 차단 / 처리방침 별도 링크 없음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365760" y="4160520"/>
            <a:ext cx="8412480" cy="749808"/>
          </a:xfrm>
          <a:prstGeom prst="rect">
            <a:avLst/>
          </a:prstGeom>
          <a:solidFill>
            <a:srgbClr val="2A2520"/>
          </a:solidFill>
          <a:ln w="12700">
            <a:solidFill>
              <a:srgbClr val="E8D9B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48640" y="422452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9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전송 방식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1737360" y="420624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B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fetch (no-cors, urlencoded)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성공 시 즉시 완료 처리     </a:t>
            </a:r>
            <a:pPr indent="0" marL="0">
              <a:buNone/>
            </a:pPr>
            <a:r>
              <a:rPr lang="en-US" sz="1000" b="1" dirty="0">
                <a:solidFill>
                  <a:srgbClr val="D4B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3초 타임아웃 → iframe fallback POST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메이크샵 fetch 차단 환경 대응     </a:t>
            </a:r>
            <a:pPr indent="0" marL="0">
              <a:buNone/>
            </a:pPr>
            <a:r>
              <a:rPr lang="en-US" sz="1000" b="1" dirty="0">
                <a:solidFill>
                  <a:srgbClr val="D4B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submitted 플래그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중복 전송 완전 차단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89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 ACCORDION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25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시크릿 혜택 — 아코디언 내용 (수정 가능)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78992"/>
            <a:ext cx="84124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9BC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280160"/>
            <a:ext cx="274320" cy="274320"/>
          </a:xfrm>
          <a:prstGeom prst="ellipse">
            <a:avLst/>
          </a:prstGeom>
          <a:solidFill>
            <a:srgbClr val="B8965A"/>
          </a:solidFill>
          <a:ln w="12700">
            <a:solidFill>
              <a:srgbClr val="B896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280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14400" y="115214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2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디에르 에물 혜택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1426464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5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일반 고객과 다른, 크리에이터 ONLY 혜택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B5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모두 적용 시 총 140만원 상당 + 30% 할인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7498080" y="1316736"/>
            <a:ext cx="804672" cy="237744"/>
          </a:xfrm>
          <a:prstGeom prst="roundRect">
            <a:avLst>
              <a:gd name="adj" fmla="val 19231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0" y="1335024"/>
            <a:ext cx="804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~7.05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366760" y="135331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A8E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수정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65760" y="1883664"/>
            <a:ext cx="84124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9BC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02920" y="2084832"/>
            <a:ext cx="274320" cy="274320"/>
          </a:xfrm>
          <a:prstGeom prst="ellipse">
            <a:avLst/>
          </a:prstGeom>
          <a:solidFill>
            <a:srgbClr val="B8965A"/>
          </a:solidFill>
          <a:ln w="12700">
            <a:solidFill>
              <a:srgbClr val="B896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0848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14400" y="195681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2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방문 상담시 혜택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14400" y="221284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9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13만원 상당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14400" y="239572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5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포레 베르테 룸 스프레이 (4만원 상당)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B5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도로시 벨벳 보석함 (7만원 상당)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7498080" y="2121408"/>
            <a:ext cx="804672" cy="237744"/>
          </a:xfrm>
          <a:prstGeom prst="roundRect">
            <a:avLst>
              <a:gd name="adj" fmla="val 19231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98080" y="2139696"/>
            <a:ext cx="804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~7.05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366760" y="2157984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A8E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수정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65760" y="2688336"/>
            <a:ext cx="84124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9BC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02920" y="2889504"/>
            <a:ext cx="274320" cy="274320"/>
          </a:xfrm>
          <a:prstGeom prst="ellipse">
            <a:avLst/>
          </a:prstGeom>
          <a:solidFill>
            <a:srgbClr val="B8965A"/>
          </a:solidFill>
          <a:ln w="12700">
            <a:solidFill>
              <a:srgbClr val="B8965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28895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914400" y="276148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2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최대 30% 할인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14400" y="303580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5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기본 20% + 추가 10% 중복 할인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498080" y="2926080"/>
            <a:ext cx="804672" cy="237744"/>
          </a:xfrm>
          <a:prstGeom prst="roundRect">
            <a:avLst>
              <a:gd name="adj" fmla="val 19231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498080" y="2944368"/>
            <a:ext cx="804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~7.05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366760" y="2962656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A8E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수정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365760" y="3493008"/>
            <a:ext cx="84124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9BC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02920" y="3694176"/>
            <a:ext cx="274320" cy="274320"/>
          </a:xfrm>
          <a:prstGeom prst="ellipse">
            <a:avLst/>
          </a:prstGeom>
          <a:solidFill>
            <a:srgbClr val="B8965A"/>
          </a:solidFill>
          <a:ln w="12700">
            <a:solidFill>
              <a:srgbClr val="B8965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36941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914400" y="35661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2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계약고객혜택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914400" y="3822192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9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최대 121만원 상당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914400" y="4005072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5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14K 신부 가드링 (랩다이아) 증정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7498080" y="3730752"/>
            <a:ext cx="804672" cy="237744"/>
          </a:xfrm>
          <a:prstGeom prst="roundRect">
            <a:avLst>
              <a:gd name="adj" fmla="val 19231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498080" y="3749040"/>
            <a:ext cx="804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~7.05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366760" y="3767328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A8E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수정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365760" y="4297680"/>
            <a:ext cx="84124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9BC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502920" y="4498848"/>
            <a:ext cx="274320" cy="274320"/>
          </a:xfrm>
          <a:prstGeom prst="ellipse">
            <a:avLst/>
          </a:prstGeom>
          <a:solidFill>
            <a:srgbClr val="B8965A"/>
          </a:solidFill>
          <a:ln w="12700">
            <a:solidFill>
              <a:srgbClr val="B8965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2920" y="44988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914400" y="437083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2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계약고객혜택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914400" y="4626864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9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18만원 상당 + AS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914400" y="4809744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5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디에르 10만원 바우처 증정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B5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도로시 테디베어 키링 증정 (8만원 상당)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B5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평생 A/S 제공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7498080" y="4535424"/>
            <a:ext cx="804672" cy="237744"/>
          </a:xfrm>
          <a:prstGeom prst="roundRect">
            <a:avLst>
              <a:gd name="adj" fmla="val 19231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498080" y="4553712"/>
            <a:ext cx="804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~7.05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8366760" y="4572000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A8E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수정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365760" y="4736592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B89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 만료일, 혜택 내용, 금액은 이 슬라이드에서 수정 후 HTML 반영 요청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89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EDITING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25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섹션별 텍스트 카피 — 수정 시트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115568"/>
            <a:ext cx="8412480" cy="301752"/>
          </a:xfrm>
          <a:prstGeom prst="rect">
            <a:avLst/>
          </a:prstGeom>
          <a:solidFill>
            <a:srgbClr val="2A2520"/>
          </a:solidFill>
          <a:ln w="12700">
            <a:solidFill>
              <a:srgbClr val="2A25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152144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섹션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298448" y="115214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항목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688336" y="1152144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현재 텍스트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70064" y="1152144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비고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1417320"/>
            <a:ext cx="84124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8D9B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44475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히어로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298448" y="144475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5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메인 헤드라인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688336" y="1444752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A2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당신만을 위한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A2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 하나의 다이아몬드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370064" y="144475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5760" y="1783080"/>
            <a:ext cx="8412480" cy="347472"/>
          </a:xfrm>
          <a:prstGeom prst="rect">
            <a:avLst/>
          </a:prstGeom>
          <a:solidFill>
            <a:srgbClr val="F7F3ED"/>
          </a:solidFill>
          <a:ln w="6350">
            <a:solidFill>
              <a:srgbClr val="E8D9B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181051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히어로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298448" y="181051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5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서브 카피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688336" y="1810512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A2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Grace in Every Moment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370064" y="181051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영문 유지 권장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" y="2148840"/>
            <a:ext cx="84124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8D9B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217627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히어로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298448" y="217627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5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CTA 버튼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688336" y="2176272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A2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무료 VIP 상담 신청하기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370064" y="217627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65760" y="2514600"/>
            <a:ext cx="8412480" cy="347472"/>
          </a:xfrm>
          <a:prstGeom prst="rect">
            <a:avLst/>
          </a:prstGeom>
          <a:solidFill>
            <a:srgbClr val="F7F3ED"/>
          </a:solidFill>
          <a:ln w="6350">
            <a:solidFill>
              <a:srgbClr val="E8D9B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254203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브랜드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298448" y="254203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5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섹션 헤드라인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688336" y="2542032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A2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세월이 더할수록 깊어지는 가치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370064" y="254203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65760" y="2880360"/>
            <a:ext cx="84124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8D9B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290779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브랜드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298448" y="290779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5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본문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688336" y="2907792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A2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수백 년의 생명력을 품는 올리브 나무처럼,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A2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세대를 넘어 전해지는 아름다운 연결.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370064" y="290779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2줄 유지 권장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65760" y="3246120"/>
            <a:ext cx="8412480" cy="347472"/>
          </a:xfrm>
          <a:prstGeom prst="rect">
            <a:avLst/>
          </a:prstGeom>
          <a:solidFill>
            <a:srgbClr val="F7F3ED"/>
          </a:solidFill>
          <a:ln w="6350">
            <a:solidFill>
              <a:srgbClr val="E8D9B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327355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커스터마이징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298448" y="327355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5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슬로건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2688336" y="3273552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A2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"영원의 약속, 빛나는 순간을 디자인합니다."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370064" y="327355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65760" y="3611880"/>
            <a:ext cx="84124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8D9B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363931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청담점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298448" y="363931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5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서브 헤드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2688336" y="3639312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A2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소중한 사람을 위해 함께합니다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7370064" y="363931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365760" y="3977640"/>
            <a:ext cx="8412480" cy="347472"/>
          </a:xfrm>
          <a:prstGeom prst="rect">
            <a:avLst/>
          </a:prstGeom>
          <a:solidFill>
            <a:srgbClr val="F7F3ED"/>
          </a:solidFill>
          <a:ln w="6350">
            <a:solidFill>
              <a:srgbClr val="E8D9B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5760" y="400507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폼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298448" y="400507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5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폼 헤드라인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2688336" y="4005072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A2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청담 쇼룸에서 당신의 이야기를 들려주세요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7370064" y="400507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365760" y="4343400"/>
            <a:ext cx="84124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8D9B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65760" y="437083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폼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1298448" y="437083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5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폼 서브 카피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2688336" y="4370832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A2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상담은 완전 무료이며, 신청 후 24시간 이내에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A2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전담 매니저가 직접 연락드립니다.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7370064" y="437083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365760" y="4709160"/>
            <a:ext cx="8412480" cy="347472"/>
          </a:xfrm>
          <a:prstGeom prst="rect">
            <a:avLst/>
          </a:prstGeom>
          <a:solidFill>
            <a:srgbClr val="F7F3ED"/>
          </a:solidFill>
          <a:ln w="6350">
            <a:solidFill>
              <a:srgbClr val="E8D9BC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65760" y="473659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폼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1298448" y="473659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5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신뢰 문구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2688336" y="4736592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A2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신청 시, 디에르 담당자가 24시간 이내에 직접 연락을 드립니다.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7370064" y="473659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폼 상단 다크 배너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89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HOOKING &amp; UX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25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후킹 요소 &amp; UX 전환 흐름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78992"/>
            <a:ext cx="40233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9BC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17043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9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후킹 요소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554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9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04672" y="155448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2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히어로 배경 영상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04672" y="175564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5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Vimeo 자동재생·루프 (브랜드 몰입)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02920" y="19933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9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04672" y="199339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2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스크롤 마퀴 배너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04672" y="219456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5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혜택 키워드 골드 배너 (주목)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02920" y="24323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9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04672" y="243230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2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실시간 카운터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04672" y="2633472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5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"N명이 오늘 상담 신청" (사회적 증거)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02920" y="28712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9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04672" y="287121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2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혜택 아코디언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04672" y="3072384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5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만료일 + 금액 명시 (긴급성)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02920" y="33101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9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04672" y="331012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2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플로팅 배지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04672" y="3511296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5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"시크릿 혜택 확인하기" (재클릭 유도)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02920" y="37490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9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04672" y="374904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2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하단 Sticky CTA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04672" y="395020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5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히어로 통과 후 노출, 폼 도달 시 숨김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02920" y="41879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9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04672" y="418795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2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24시간 내 연락 문구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04672" y="438912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5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폼 상단 다크 배너 (신뢰+행동 유도)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572000" y="1078992"/>
            <a:ext cx="420624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9BC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709160" y="117043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9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전환 흐름 (Funnel)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709160" y="1572768"/>
            <a:ext cx="640080" cy="256032"/>
          </a:xfrm>
          <a:prstGeom prst="roundRect">
            <a:avLst>
              <a:gd name="adj" fmla="val 17857"/>
            </a:avLst>
          </a:prstGeom>
          <a:solidFill>
            <a:srgbClr val="6B5F53"/>
          </a:solidFill>
          <a:ln w="12700">
            <a:solidFill>
              <a:srgbClr val="6B5F5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09160" y="1591056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유입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440680" y="1600200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2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SNS / 네이버 검색 / 지인 추천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709160" y="184708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8E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709160" y="2084832"/>
            <a:ext cx="640080" cy="256032"/>
          </a:xfrm>
          <a:prstGeom prst="roundRect">
            <a:avLst>
              <a:gd name="adj" fmla="val 17857"/>
            </a:avLst>
          </a:prstGeom>
          <a:solidFill>
            <a:srgbClr val="C47E17"/>
          </a:solidFill>
          <a:ln w="12700">
            <a:solidFill>
              <a:srgbClr val="C47E1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09160" y="2103120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관심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440680" y="211226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2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히어로 영상 → 브랜드 공감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709160" y="235915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8E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709160" y="2596896"/>
            <a:ext cx="640080" cy="256032"/>
          </a:xfrm>
          <a:prstGeom prst="roundRect">
            <a:avLst>
              <a:gd name="adj" fmla="val 17857"/>
            </a:avLst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09160" y="261518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신뢰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5440680" y="2624328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2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인증·헤리티지·통계 확인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709160" y="2871216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8E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709160" y="3108960"/>
            <a:ext cx="640080" cy="256032"/>
          </a:xfrm>
          <a:prstGeom prst="roundRect">
            <a:avLst>
              <a:gd name="adj" fmla="val 17857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09160" y="3127248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욕구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5440680" y="3136392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2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혜택 아코디언 → 금액 인지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709160" y="338328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8E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709160" y="3621024"/>
            <a:ext cx="640080" cy="256032"/>
          </a:xfrm>
          <a:prstGeom prst="roundRect">
            <a:avLst>
              <a:gd name="adj" fmla="val 17857"/>
            </a:avLst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709160" y="3639312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행동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5440680" y="364845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2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폼 작성 → 구글 폼 DB 저장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4709160" y="3895344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8E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709160" y="4133088"/>
            <a:ext cx="640080" cy="256032"/>
          </a:xfrm>
          <a:prstGeom prst="roundRect">
            <a:avLst>
              <a:gd name="adj" fmla="val 17857"/>
            </a:avLst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709160" y="4151376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완료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5440680" y="4160520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2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24시간 내 담당자 연락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365760" y="475488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A8E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폼 도달 시 하단 Sticky CTA 자동 숨김 — 폼 방해 제거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89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TO-DO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25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수정 요청 &amp; 체크리스트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8412480" cy="301752"/>
          </a:xfrm>
          <a:prstGeom prst="rect">
            <a:avLst/>
          </a:prstGeom>
          <a:solidFill>
            <a:srgbClr val="2A2520"/>
          </a:solidFill>
          <a:ln w="12700">
            <a:solidFill>
              <a:srgbClr val="2A25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133856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상태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69848" y="1133856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항목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660136" y="113385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담당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9944" y="1133856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비고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1399032"/>
            <a:ext cx="84124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8D9B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84048" y="1444752"/>
            <a:ext cx="640080" cy="237744"/>
          </a:xfrm>
          <a:prstGeom prst="roundRect">
            <a:avLst>
              <a:gd name="adj" fmla="val 19231"/>
            </a:avLst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1463040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완료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69848" y="1453896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A2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버튼 탭 선택 UI (select 제거)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660136" y="1453896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A2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개발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409944" y="1453896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A2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메이크샵 JS 충돌 해결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5760" y="1728216"/>
            <a:ext cx="8412480" cy="310896"/>
          </a:xfrm>
          <a:prstGeom prst="rect">
            <a:avLst/>
          </a:prstGeom>
          <a:solidFill>
            <a:srgbClr val="F7F3ED"/>
          </a:solidFill>
          <a:ln w="6350">
            <a:solidFill>
              <a:srgbClr val="E8D9B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84048" y="1773936"/>
            <a:ext cx="640080" cy="237744"/>
          </a:xfrm>
          <a:prstGeom prst="roundRect">
            <a:avLst>
              <a:gd name="adj" fmla="val 19231"/>
            </a:avLst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" y="179222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완료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69848" y="178308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A2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구글 폼 DB 연동 (6개 entry)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660136" y="178308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A2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개발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409944" y="1783080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A2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+ iframe fallback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65760" y="2057400"/>
            <a:ext cx="84124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8D9B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84048" y="2103120"/>
            <a:ext cx="640080" cy="237744"/>
          </a:xfrm>
          <a:prstGeom prst="roundRect">
            <a:avLst>
              <a:gd name="adj" fmla="val 19231"/>
            </a:avLst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4048" y="2121408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완료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69848" y="211226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A2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전화번호 자동 하이픈 + 11자리 검증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660136" y="2112264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A2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개발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409944" y="2112264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65760" y="2386584"/>
            <a:ext cx="8412480" cy="310896"/>
          </a:xfrm>
          <a:prstGeom prst="rect">
            <a:avLst/>
          </a:prstGeom>
          <a:solidFill>
            <a:srgbClr val="F7F3ED"/>
          </a:solidFill>
          <a:ln w="6350">
            <a:solidFill>
              <a:srgbClr val="E8D9B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84048" y="2432304"/>
            <a:ext cx="640080" cy="237744"/>
          </a:xfrm>
          <a:prstGeom prst="roundRect">
            <a:avLst>
              <a:gd name="adj" fmla="val 19231"/>
            </a:avLst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84048" y="2450592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완료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69848" y="2441448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A2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하단 Sticky CTA (폼 도달 시 숨김)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660136" y="2441448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A2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개발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409944" y="2441448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65760" y="2715768"/>
            <a:ext cx="84124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8D9B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84048" y="2761488"/>
            <a:ext cx="640080" cy="237744"/>
          </a:xfrm>
          <a:prstGeom prst="roundRect">
            <a:avLst>
              <a:gd name="adj" fmla="val 19231"/>
            </a:avLst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84048" y="2779776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완료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69848" y="2770632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A2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혜택 아코디언 5종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660136" y="2770632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A2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개발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409944" y="2770632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A2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만료일 ~7.05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65760" y="3044952"/>
            <a:ext cx="8412480" cy="310896"/>
          </a:xfrm>
          <a:prstGeom prst="rect">
            <a:avLst/>
          </a:prstGeom>
          <a:solidFill>
            <a:srgbClr val="F7F3ED"/>
          </a:solidFill>
          <a:ln w="6350">
            <a:solidFill>
              <a:srgbClr val="E8D9B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84048" y="3090672"/>
            <a:ext cx="640080" cy="237744"/>
          </a:xfrm>
          <a:prstGeom prst="roundRect">
            <a:avLst>
              <a:gd name="adj" fmla="val 19231"/>
            </a:avLst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84048" y="3108960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완료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069848" y="3099816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A2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마퀴 배너 + 플로팅 배지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5660136" y="3099816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A2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개발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6409944" y="3099816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365760" y="3374136"/>
            <a:ext cx="84124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8D9BC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84048" y="3419856"/>
            <a:ext cx="640080" cy="237744"/>
          </a:xfrm>
          <a:prstGeom prst="roundRect">
            <a:avLst>
              <a:gd name="adj" fmla="val 19231"/>
            </a:avLst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84048" y="343814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완료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1069848" y="342900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A2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중복 전송 방지 submitted 플래그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5660136" y="342900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A2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개발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6409944" y="3429000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A2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3초 타임아웃 fallback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365760" y="3703320"/>
            <a:ext cx="8412480" cy="310896"/>
          </a:xfrm>
          <a:prstGeom prst="rect">
            <a:avLst/>
          </a:prstGeom>
          <a:solidFill>
            <a:srgbClr val="F7F3ED"/>
          </a:solidFill>
          <a:ln w="6350">
            <a:solidFill>
              <a:srgbClr val="E8D9BC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84048" y="3749040"/>
            <a:ext cx="640080" cy="237744"/>
          </a:xfrm>
          <a:prstGeom prst="roundRect">
            <a:avLst>
              <a:gd name="adj" fmla="val 19231"/>
            </a:avLst>
          </a:prstGeom>
          <a:solidFill>
            <a:srgbClr val="C47E17"/>
          </a:solidFill>
          <a:ln w="12700">
            <a:solidFill>
              <a:srgbClr val="C47E1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84048" y="3767328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검토중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1069848" y="375818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A2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혜택 내용·금액·만료일 최종 확인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5660136" y="3758184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A2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기획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6409944" y="3758184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A2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슬라이드에서 직접 수정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365760" y="4032504"/>
            <a:ext cx="84124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8D9BC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384048" y="4078224"/>
            <a:ext cx="640080" cy="237744"/>
          </a:xfrm>
          <a:prstGeom prst="roundRect">
            <a:avLst>
              <a:gd name="adj" fmla="val 19231"/>
            </a:avLst>
          </a:prstGeom>
          <a:solidFill>
            <a:srgbClr val="C47E17"/>
          </a:solidFill>
          <a:ln w="12700">
            <a:solidFill>
              <a:srgbClr val="C47E17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84048" y="4096512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검토중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1069848" y="4087368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A2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마퀴 배너 텍스트 최종 확인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5660136" y="4087368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A2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기획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6409944" y="4087368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365760" y="4361688"/>
            <a:ext cx="8412480" cy="310896"/>
          </a:xfrm>
          <a:prstGeom prst="rect">
            <a:avLst/>
          </a:prstGeom>
          <a:solidFill>
            <a:srgbClr val="F7F3ED"/>
          </a:solidFill>
          <a:ln w="6350">
            <a:solidFill>
              <a:srgbClr val="E8D9BC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384048" y="4407408"/>
            <a:ext cx="640080" cy="237744"/>
          </a:xfrm>
          <a:prstGeom prst="roundRect">
            <a:avLst>
              <a:gd name="adj" fmla="val 19231"/>
            </a:avLst>
          </a:prstGeom>
          <a:solidFill>
            <a:srgbClr val="C47E17"/>
          </a:solidFill>
          <a:ln w="12700">
            <a:solidFill>
              <a:srgbClr val="C47E17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84048" y="4425696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검토중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1069848" y="4416552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A2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아코디언 섹션 헤드라인 문구</a:t>
            </a:r>
            <a:endParaRPr lang="en-US" sz="950" dirty="0"/>
          </a:p>
        </p:txBody>
      </p:sp>
      <p:sp>
        <p:nvSpPr>
          <p:cNvPr id="67" name="Text 65"/>
          <p:cNvSpPr/>
          <p:nvPr/>
        </p:nvSpPr>
        <p:spPr>
          <a:xfrm>
            <a:off x="5660136" y="4416552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A2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기획</a:t>
            </a:r>
            <a:endParaRPr lang="en-US" sz="950" dirty="0"/>
          </a:p>
        </p:txBody>
      </p:sp>
      <p:sp>
        <p:nvSpPr>
          <p:cNvPr id="68" name="Text 66"/>
          <p:cNvSpPr/>
          <p:nvPr/>
        </p:nvSpPr>
        <p:spPr>
          <a:xfrm>
            <a:off x="6409944" y="4416552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A2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현재: 에서만 드리는 시크릿 혜택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365760" y="4690872"/>
            <a:ext cx="84124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8D9BC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384048" y="4736592"/>
            <a:ext cx="640080" cy="237744"/>
          </a:xfrm>
          <a:prstGeom prst="roundRect">
            <a:avLst>
              <a:gd name="adj" fmla="val 19231"/>
            </a:avLst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84048" y="4754880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예정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1069848" y="4745736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A2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폼 전송 최종 테스트 (실 기기)</a:t>
            </a:r>
            <a:endParaRPr lang="en-US" sz="950" dirty="0"/>
          </a:p>
        </p:txBody>
      </p:sp>
      <p:sp>
        <p:nvSpPr>
          <p:cNvPr id="73" name="Text 71"/>
          <p:cNvSpPr/>
          <p:nvPr/>
        </p:nvSpPr>
        <p:spPr>
          <a:xfrm>
            <a:off x="5660136" y="4745736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A2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기획</a:t>
            </a:r>
            <a:endParaRPr lang="en-US" sz="950" dirty="0"/>
          </a:p>
        </p:txBody>
      </p:sp>
      <p:sp>
        <p:nvSpPr>
          <p:cNvPr id="74" name="Text 72"/>
          <p:cNvSpPr/>
          <p:nvPr/>
        </p:nvSpPr>
        <p:spPr>
          <a:xfrm>
            <a:off x="6409944" y="4745736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A2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구글 시트에서 수집 확인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365760" y="5020056"/>
            <a:ext cx="8412480" cy="310896"/>
          </a:xfrm>
          <a:prstGeom prst="rect">
            <a:avLst/>
          </a:prstGeom>
          <a:solidFill>
            <a:srgbClr val="F7F3ED"/>
          </a:solidFill>
          <a:ln w="6350">
            <a:solidFill>
              <a:srgbClr val="E8D9BC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384048" y="5065776"/>
            <a:ext cx="640080" cy="237744"/>
          </a:xfrm>
          <a:prstGeom prst="roundRect">
            <a:avLst>
              <a:gd name="adj" fmla="val 19231"/>
            </a:avLst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384048" y="508406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예정</a:t>
            </a:r>
            <a:endParaRPr lang="en-US" sz="900" dirty="0"/>
          </a:p>
        </p:txBody>
      </p:sp>
      <p:sp>
        <p:nvSpPr>
          <p:cNvPr id="78" name="Text 76"/>
          <p:cNvSpPr/>
          <p:nvPr/>
        </p:nvSpPr>
        <p:spPr>
          <a:xfrm>
            <a:off x="1069848" y="50749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A2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Vimeo 영상 도메인 허용 확인</a:t>
            </a:r>
            <a:endParaRPr lang="en-US" sz="950" dirty="0"/>
          </a:p>
        </p:txBody>
      </p:sp>
      <p:sp>
        <p:nvSpPr>
          <p:cNvPr id="79" name="Text 77"/>
          <p:cNvSpPr/>
          <p:nvPr/>
        </p:nvSpPr>
        <p:spPr>
          <a:xfrm>
            <a:off x="5660136" y="507492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A2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개발</a:t>
            </a:r>
            <a:endParaRPr lang="en-US" sz="950" dirty="0"/>
          </a:p>
        </p:txBody>
      </p:sp>
      <p:sp>
        <p:nvSpPr>
          <p:cNvPr id="80" name="Text 78"/>
          <p:cNvSpPr/>
          <p:nvPr/>
        </p:nvSpPr>
        <p:spPr>
          <a:xfrm>
            <a:off x="6409944" y="5074920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A2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dorocy.co.kr 허용 설정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DIHEIR 랜딩페이지 기획서</dc:title>
  <dc:subject>PptxGenJS Presentation</dc:subject>
  <dc:creator>PptxGenJS</dc:creator>
  <cp:lastModifiedBy>PptxGenJS</cp:lastModifiedBy>
  <cp:revision>1</cp:revision>
  <dcterms:created xsi:type="dcterms:W3CDTF">2026-06-15T04:52:43Z</dcterms:created>
  <dcterms:modified xsi:type="dcterms:W3CDTF">2026-06-15T04:52:43Z</dcterms:modified>
</cp:coreProperties>
</file>